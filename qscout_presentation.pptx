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nonymous Pro" panose="020B0604020202020204" charset="0"/>
      <p:regular r:id="rId12"/>
    </p:embeddedFont>
    <p:embeddedFont>
      <p:font typeface="Anonymous Pro Bold" panose="020B0604020202020204" charset="0"/>
      <p:regular r:id="rId13"/>
    </p:embeddedFont>
    <p:embeddedFont>
      <p:font typeface="Anonymous Pro Bold Italics" panose="020B0604020202020204" charset="0"/>
      <p:regular r:id="rId14"/>
    </p:embeddedFont>
    <p:embeddedFont>
      <p:font typeface="Anonymous Pro Italics" panose="020B0604020202020204" charset="0"/>
      <p:regular r:id="rId15"/>
    </p:embeddedFont>
    <p:embeddedFont>
      <p:font typeface="Glacial Indifference" panose="020B0604020202020204" charset="0"/>
      <p:regular r:id="rId16"/>
    </p:embeddedFont>
    <p:embeddedFont>
      <p:font typeface="Saved By Zero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maria-mustafa-b/q-scout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800000">
            <a:off x="0" y="8133915"/>
            <a:ext cx="18288000" cy="3086100"/>
            <a:chOff x="0" y="0"/>
            <a:chExt cx="4816593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4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0"/>
            <a:ext cx="73152" cy="15240"/>
          </a:xfrm>
          <a:custGeom>
            <a:avLst/>
            <a:gdLst/>
            <a:ahLst/>
            <a:cxnLst/>
            <a:rect l="l" t="t" r="r" b="b"/>
            <a:pathLst>
              <a:path w="73152" h="15240">
                <a:moveTo>
                  <a:pt x="0" y="0"/>
                </a:moveTo>
                <a:lnTo>
                  <a:pt x="73152" y="0"/>
                </a:lnTo>
                <a:lnTo>
                  <a:pt x="73152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439205" y="7774616"/>
            <a:ext cx="4628530" cy="718600"/>
            <a:chOff x="0" y="0"/>
            <a:chExt cx="6171373" cy="958133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6171373" cy="958133"/>
              <a:chOff x="0" y="0"/>
              <a:chExt cx="1286940" cy="19980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286940" cy="199803"/>
              </a:xfrm>
              <a:custGeom>
                <a:avLst/>
                <a:gdLst/>
                <a:ahLst/>
                <a:cxnLst/>
                <a:rect l="l" t="t" r="r" b="b"/>
                <a:pathLst>
                  <a:path w="1286940" h="199803">
                    <a:moveTo>
                      <a:pt x="0" y="0"/>
                    </a:moveTo>
                    <a:lnTo>
                      <a:pt x="1286940" y="0"/>
                    </a:lnTo>
                    <a:lnTo>
                      <a:pt x="1286940" y="199803"/>
                    </a:lnTo>
                    <a:lnTo>
                      <a:pt x="0" y="199803"/>
                    </a:lnTo>
                    <a:close/>
                  </a:path>
                </a:pathLst>
              </a:custGeom>
              <a:ln w="38100" cap="sq">
                <a:solidFill>
                  <a:srgbClr val="12F6FC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286940" cy="2474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294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17105" y="229140"/>
              <a:ext cx="5854268" cy="4928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229">
                  <a:solidFill>
                    <a:srgbClr val="11B9BE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Authorized scope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845323" y="6547821"/>
            <a:ext cx="4390701" cy="381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20"/>
              </a:lnSpc>
              <a:spcBef>
                <a:spcPct val="0"/>
              </a:spcBef>
            </a:pPr>
            <a:r>
              <a:rPr lang="en-US" sz="2229">
                <a:solidFill>
                  <a:srgbClr val="C0EAE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Presented by Maria Mustafa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595370" y="4276353"/>
            <a:ext cx="15404186" cy="2276416"/>
            <a:chOff x="0" y="0"/>
            <a:chExt cx="20538915" cy="3035221"/>
          </a:xfrm>
        </p:grpSpPr>
        <p:sp>
          <p:nvSpPr>
            <p:cNvPr id="14" name="TextBox 14"/>
            <p:cNvSpPr txBox="1"/>
            <p:nvPr/>
          </p:nvSpPr>
          <p:spPr>
            <a:xfrm>
              <a:off x="2078844" y="-85725"/>
              <a:ext cx="15971991" cy="8690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419"/>
                </a:lnSpc>
                <a:spcBef>
                  <a:spcPct val="0"/>
                </a:spcBef>
              </a:pPr>
              <a:r>
                <a:rPr lang="en-US" sz="3871">
                  <a:solidFill>
                    <a:srgbClr val="11B9BE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Quantum Crypto Discovery Mini-Scanner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545168"/>
              <a:ext cx="20538915" cy="24900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83"/>
                </a:lnSpc>
              </a:pPr>
              <a:r>
                <a:rPr lang="en-US" sz="11131">
                  <a:solidFill>
                    <a:srgbClr val="11B9BE"/>
                  </a:solidFill>
                  <a:latin typeface="Saved By Zero"/>
                  <a:ea typeface="Saved By Zero"/>
                  <a:cs typeface="Saved By Zero"/>
                  <a:sym typeface="Saved By Zero"/>
                </a:rPr>
                <a:t>Q-SCOUT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29735" y="7774616"/>
            <a:ext cx="4628530" cy="718600"/>
            <a:chOff x="0" y="0"/>
            <a:chExt cx="6171373" cy="958133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6171373" cy="958133"/>
              <a:chOff x="0" y="0"/>
              <a:chExt cx="1286940" cy="19980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286940" cy="199803"/>
              </a:xfrm>
              <a:custGeom>
                <a:avLst/>
                <a:gdLst/>
                <a:ahLst/>
                <a:cxnLst/>
                <a:rect l="l" t="t" r="r" b="b"/>
                <a:pathLst>
                  <a:path w="1286940" h="199803">
                    <a:moveTo>
                      <a:pt x="0" y="0"/>
                    </a:moveTo>
                    <a:lnTo>
                      <a:pt x="1286940" y="0"/>
                    </a:lnTo>
                    <a:lnTo>
                      <a:pt x="1286940" y="199803"/>
                    </a:lnTo>
                    <a:lnTo>
                      <a:pt x="0" y="199803"/>
                    </a:lnTo>
                    <a:close/>
                  </a:path>
                </a:pathLst>
              </a:custGeom>
              <a:ln w="38100" cap="sq">
                <a:solidFill>
                  <a:srgbClr val="12F6FC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1286940" cy="2474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294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317105" y="229140"/>
              <a:ext cx="5854268" cy="4928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229">
                  <a:solidFill>
                    <a:srgbClr val="11B9BE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Bounded scan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218680" y="7774616"/>
            <a:ext cx="4628530" cy="718600"/>
            <a:chOff x="0" y="0"/>
            <a:chExt cx="6171373" cy="958133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6171373" cy="958133"/>
              <a:chOff x="0" y="0"/>
              <a:chExt cx="1286940" cy="19980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286940" cy="199803"/>
              </a:xfrm>
              <a:custGeom>
                <a:avLst/>
                <a:gdLst/>
                <a:ahLst/>
                <a:cxnLst/>
                <a:rect l="l" t="t" r="r" b="b"/>
                <a:pathLst>
                  <a:path w="1286940" h="199803">
                    <a:moveTo>
                      <a:pt x="0" y="0"/>
                    </a:moveTo>
                    <a:lnTo>
                      <a:pt x="1286940" y="0"/>
                    </a:lnTo>
                    <a:lnTo>
                      <a:pt x="1286940" y="199803"/>
                    </a:lnTo>
                    <a:lnTo>
                      <a:pt x="0" y="199803"/>
                    </a:lnTo>
                    <a:close/>
                  </a:path>
                </a:pathLst>
              </a:custGeom>
              <a:ln w="38100" cap="sq">
                <a:solidFill>
                  <a:srgbClr val="12F6FC"/>
                </a:solidFill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1286940" cy="2474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294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317105" y="229140"/>
              <a:ext cx="5854268" cy="4928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229">
                  <a:solidFill>
                    <a:srgbClr val="11B9BE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No exploitation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848097" y="9102219"/>
            <a:ext cx="11010903" cy="495876"/>
            <a:chOff x="0" y="-38100"/>
            <a:chExt cx="14681204" cy="661168"/>
          </a:xfrm>
        </p:grpSpPr>
        <p:sp>
          <p:nvSpPr>
            <p:cNvPr id="27" name="TextBox 27"/>
            <p:cNvSpPr txBox="1"/>
            <p:nvPr/>
          </p:nvSpPr>
          <p:spPr>
            <a:xfrm>
              <a:off x="0" y="298364"/>
              <a:ext cx="14681204" cy="32470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076"/>
                </a:lnSpc>
                <a:spcBef>
                  <a:spcPct val="0"/>
                </a:spcBef>
              </a:pPr>
              <a:r>
                <a:rPr lang="en-US" sz="1483" u="sng" dirty="0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  <a:hlinkClick r:id="rId4" tooltip="https://github.com/maria-mustafa-b/q-scout"/>
                </a:rPr>
                <a:t>Source Code • README.md • </a:t>
              </a:r>
              <a:r>
                <a:rPr lang="en-US" sz="1483" u="sng" dirty="0" err="1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  <a:hlinkClick r:id="rId4" tooltip="https://github.com/maria-mustafa-b/q-scout"/>
                </a:rPr>
                <a:t>results.json</a:t>
              </a:r>
              <a:r>
                <a:rPr lang="en-US" sz="1483" u="sng" dirty="0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  <a:hlinkClick r:id="rId4" tooltip="https://github.com/maria-mustafa-b/q-scout"/>
                </a:rPr>
                <a:t> • requirements.txt • ASSUMPTIONS.md • AI_DISCLOSURE.md •</a:t>
              </a:r>
              <a:r>
                <a:rPr lang="en-US" sz="1483" u="sng" dirty="0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  <a:hlinkClick r:id="rId4" tooltip="https://github.com/maria-mustafa-b/q-scout"/>
                </a:rPr>
                <a:t> demo.sh</a:t>
              </a:r>
              <a:endParaRPr lang="en-US" sz="1483" u="sng" dirty="0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  <a:hlinkClick r:id="rId4" tooltip="https://github.com/maria-mustafa-b/q-scout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67283" y="-38100"/>
              <a:ext cx="4787840" cy="3745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66"/>
                </a:lnSpc>
                <a:spcBef>
                  <a:spcPct val="0"/>
                </a:spcBef>
              </a:pPr>
              <a:r>
                <a:rPr lang="en-US" sz="1690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Submission artifacts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3331" y="5457433"/>
            <a:ext cx="4302760" cy="4384979"/>
          </a:xfrm>
          <a:custGeom>
            <a:avLst/>
            <a:gdLst/>
            <a:ahLst/>
            <a:cxnLst/>
            <a:rect l="l" t="t" r="r" b="b"/>
            <a:pathLst>
              <a:path w="4302760" h="4384979">
                <a:moveTo>
                  <a:pt x="0" y="0"/>
                </a:moveTo>
                <a:lnTo>
                  <a:pt x="4302761" y="0"/>
                </a:lnTo>
                <a:lnTo>
                  <a:pt x="4302761" y="4384979"/>
                </a:lnTo>
                <a:lnTo>
                  <a:pt x="0" y="43849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981075"/>
            <a:ext cx="7813545" cy="1518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13"/>
              </a:lnSpc>
            </a:pPr>
            <a:r>
              <a:rPr lang="en-US" sz="4661">
                <a:solidFill>
                  <a:srgbClr val="12F6FC"/>
                </a:solidFill>
                <a:latin typeface="Anonymous Pro"/>
                <a:ea typeface="Anonymous Pro"/>
                <a:cs typeface="Anonymous Pro"/>
                <a:sym typeface="Anonymous Pro"/>
              </a:rPr>
              <a:t>Problem statement and Objective</a:t>
            </a:r>
          </a:p>
        </p:txBody>
      </p:sp>
      <p:sp>
        <p:nvSpPr>
          <p:cNvPr id="4" name="AutoShape 4"/>
          <p:cNvSpPr/>
          <p:nvPr/>
        </p:nvSpPr>
        <p:spPr>
          <a:xfrm>
            <a:off x="4452101" y="2182177"/>
            <a:ext cx="14429672" cy="0"/>
          </a:xfrm>
          <a:prstGeom prst="line">
            <a:avLst/>
          </a:prstGeom>
          <a:ln w="38100" cap="flat">
            <a:solidFill>
              <a:srgbClr val="12F6FC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1009651" y="2848460"/>
            <a:ext cx="16656441" cy="2871554"/>
            <a:chOff x="0" y="0"/>
            <a:chExt cx="22208588" cy="3828738"/>
          </a:xfrm>
        </p:grpSpPr>
        <p:sp>
          <p:nvSpPr>
            <p:cNvPr id="6" name="TextBox 6"/>
            <p:cNvSpPr txBox="1"/>
            <p:nvPr/>
          </p:nvSpPr>
          <p:spPr>
            <a:xfrm>
              <a:off x="733792" y="749035"/>
              <a:ext cx="21474796" cy="30797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75453" lvl="1" indent="-287726" algn="l">
                <a:lnSpc>
                  <a:spcPts val="3731"/>
                </a:lnSpc>
                <a:buFont typeface="Arial"/>
                <a:buChar char="•"/>
              </a:pPr>
              <a:r>
                <a:rPr lang="en-US" sz="2665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Organizations need visibility into the cryptography currently exposed by their systems before planning post-quantum migration.</a:t>
              </a:r>
            </a:p>
            <a:p>
              <a:pPr marL="575453" lvl="1" indent="-287726" algn="l">
                <a:lnSpc>
                  <a:spcPts val="3731"/>
                </a:lnSpc>
                <a:buFont typeface="Arial"/>
                <a:buChar char="•"/>
              </a:pPr>
              <a:r>
                <a:rPr lang="en-US" sz="2665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Traditional asset discovery alone does not explain which cryptographic algorithms are actually being observed.</a:t>
              </a:r>
            </a:p>
            <a:p>
              <a:pPr algn="l">
                <a:lnSpc>
                  <a:spcPts val="3731"/>
                </a:lnSpc>
              </a:pPr>
              <a:endParaRPr lang="en-US" sz="2665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endParaRPr>
            </a:p>
          </p:txBody>
        </p:sp>
        <p:sp>
          <p:nvSpPr>
            <p:cNvPr id="7" name="AutoShape 7"/>
            <p:cNvSpPr/>
            <p:nvPr/>
          </p:nvSpPr>
          <p:spPr>
            <a:xfrm flipH="1">
              <a:off x="25399" y="219"/>
              <a:ext cx="28057" cy="3259203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34587" y="-66456"/>
              <a:ext cx="13365610" cy="6647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51"/>
                </a:lnSpc>
              </a:pPr>
              <a:r>
                <a:rPr lang="en-US" sz="2965" b="1">
                  <a:solidFill>
                    <a:srgbClr val="12F6FC"/>
                  </a:solidFill>
                  <a:latin typeface="Anonymous Pro Bold"/>
                  <a:ea typeface="Anonymous Pro Bold"/>
                  <a:cs typeface="Anonymous Pro Bold"/>
                  <a:sym typeface="Anonymous Pro Bold"/>
                </a:rPr>
                <a:t>Problem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5889268"/>
            <a:ext cx="11484955" cy="3801239"/>
            <a:chOff x="0" y="0"/>
            <a:chExt cx="15313274" cy="5068319"/>
          </a:xfrm>
        </p:grpSpPr>
        <p:sp>
          <p:nvSpPr>
            <p:cNvPr id="10" name="TextBox 10"/>
            <p:cNvSpPr txBox="1"/>
            <p:nvPr/>
          </p:nvSpPr>
          <p:spPr>
            <a:xfrm>
              <a:off x="0" y="747298"/>
              <a:ext cx="15313274" cy="43210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31"/>
                </a:lnSpc>
              </a:pPr>
              <a:r>
                <a:rPr lang="en-US" sz="2665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Build a lightweight Linux-based defensive scanner that:</a:t>
              </a:r>
            </a:p>
            <a:p>
              <a:pPr marL="575453" lvl="1" indent="-287726" algn="l">
                <a:lnSpc>
                  <a:spcPts val="3731"/>
                </a:lnSpc>
                <a:buFont typeface="Arial"/>
                <a:buChar char="•"/>
              </a:pPr>
              <a:r>
                <a:rPr lang="en-US" sz="2665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Discovers hosts and selected TCP services.</a:t>
              </a:r>
            </a:p>
            <a:p>
              <a:pPr marL="575453" lvl="1" indent="-287726" algn="l">
                <a:lnSpc>
                  <a:spcPts val="3731"/>
                </a:lnSpc>
                <a:buFont typeface="Arial"/>
                <a:buChar char="•"/>
              </a:pPr>
              <a:r>
                <a:rPr lang="en-US" sz="2665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Inspects TLS and X.509 certificate metadata.</a:t>
              </a:r>
            </a:p>
            <a:p>
              <a:pPr marL="575453" lvl="1" indent="-287726" algn="l">
                <a:lnSpc>
                  <a:spcPts val="3731"/>
                </a:lnSpc>
                <a:buFont typeface="Arial"/>
                <a:buChar char="•"/>
              </a:pPr>
              <a:r>
                <a:rPr lang="en-US" sz="2665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Identifies observed cryptographic algorithms.</a:t>
              </a:r>
            </a:p>
            <a:p>
              <a:pPr marL="575453" lvl="1" indent="-287726" algn="l">
                <a:lnSpc>
                  <a:spcPts val="3731"/>
                </a:lnSpc>
                <a:buFont typeface="Arial"/>
                <a:buChar char="•"/>
              </a:pPr>
              <a:r>
                <a:rPr lang="en-US" sz="2665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Classifies each algorithm for quantum readiness.</a:t>
              </a:r>
            </a:p>
            <a:p>
              <a:pPr marL="575453" lvl="1" indent="-287726" algn="l">
                <a:lnSpc>
                  <a:spcPts val="3731"/>
                </a:lnSpc>
                <a:buFont typeface="Arial"/>
                <a:buChar char="•"/>
              </a:pPr>
              <a:r>
                <a:rPr lang="en-US" sz="2665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Produces structured JSON evidence.</a:t>
              </a:r>
            </a:p>
            <a:p>
              <a:pPr algn="l">
                <a:lnSpc>
                  <a:spcPts val="3731"/>
                </a:lnSpc>
              </a:pPr>
              <a:endParaRPr lang="en-US" sz="2665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13365610" cy="6647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51"/>
                </a:lnSpc>
              </a:pPr>
              <a:r>
                <a:rPr lang="en-US" sz="2965" b="1">
                  <a:solidFill>
                    <a:srgbClr val="12F6FC"/>
                  </a:solidFill>
                  <a:latin typeface="Anonymous Pro Bold"/>
                  <a:ea typeface="Anonymous Pro Bold"/>
                  <a:cs typeface="Anonymous Pro Bold"/>
                  <a:sym typeface="Anonymous Pro Bold"/>
                </a:rPr>
                <a:t>Objective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6658" y="659443"/>
            <a:ext cx="6222324" cy="1518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3"/>
              </a:lnSpc>
            </a:pPr>
            <a:r>
              <a:rPr lang="en-US" sz="4661">
                <a:solidFill>
                  <a:srgbClr val="12F6FC"/>
                </a:solidFill>
                <a:latin typeface="Anonymous Pro"/>
                <a:ea typeface="Anonymous Pro"/>
                <a:cs typeface="Anonymous Pro"/>
                <a:sym typeface="Anonymous Pro"/>
              </a:rPr>
              <a:t>Approach &amp;</a:t>
            </a:r>
          </a:p>
          <a:p>
            <a:pPr marL="0" lvl="0" indent="0" algn="l">
              <a:lnSpc>
                <a:spcPts val="6013"/>
              </a:lnSpc>
            </a:pPr>
            <a:r>
              <a:rPr lang="en-US" sz="4661">
                <a:solidFill>
                  <a:srgbClr val="12F6FC"/>
                </a:solidFill>
                <a:latin typeface="Anonymous Pro"/>
                <a:ea typeface="Anonymous Pro"/>
                <a:cs typeface="Anonymous Pro"/>
                <a:sym typeface="Anonymous Pro"/>
              </a:rPr>
              <a:t>architecture</a:t>
            </a:r>
          </a:p>
        </p:txBody>
      </p:sp>
      <p:sp>
        <p:nvSpPr>
          <p:cNvPr id="3" name="AutoShape 3"/>
          <p:cNvSpPr/>
          <p:nvPr/>
        </p:nvSpPr>
        <p:spPr>
          <a:xfrm>
            <a:off x="4747627" y="1863199"/>
            <a:ext cx="13540373" cy="0"/>
          </a:xfrm>
          <a:prstGeom prst="line">
            <a:avLst/>
          </a:prstGeom>
          <a:ln w="38100" cap="flat">
            <a:solidFill>
              <a:srgbClr val="12F6FC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283126" y="5857951"/>
            <a:ext cx="3812594" cy="309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8"/>
              </a:lnSpc>
            </a:pPr>
            <a:r>
              <a:rPr lang="en-US" sz="1948">
                <a:solidFill>
                  <a:srgbClr val="12F6FC"/>
                </a:solidFill>
                <a:latin typeface="Anonymous Pro"/>
                <a:ea typeface="Anonymous Pro"/>
                <a:cs typeface="Anonymous Pro"/>
                <a:sym typeface="Anonymous Pro"/>
              </a:rPr>
              <a:t>targets.py</a:t>
            </a:r>
          </a:p>
          <a:p>
            <a:pPr marL="420707" lvl="1" indent="-210354" algn="l">
              <a:lnSpc>
                <a:spcPts val="2728"/>
              </a:lnSpc>
              <a:buFont typeface="Arial"/>
              <a:buChar char="•"/>
            </a:pPr>
            <a:r>
              <a:rPr lang="en-US" sz="1948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IPv4 address</a:t>
            </a:r>
          </a:p>
          <a:p>
            <a:pPr marL="420707" lvl="1" indent="-210354" algn="l">
              <a:lnSpc>
                <a:spcPts val="2728"/>
              </a:lnSpc>
              <a:buFont typeface="Arial"/>
              <a:buChar char="•"/>
            </a:pPr>
            <a:r>
              <a:rPr lang="en-US" sz="1948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Hostname</a:t>
            </a:r>
          </a:p>
          <a:p>
            <a:pPr marL="420707" lvl="1" indent="-210354" algn="l">
              <a:lnSpc>
                <a:spcPts val="2728"/>
              </a:lnSpc>
              <a:buFont typeface="Arial"/>
              <a:buChar char="•"/>
            </a:pPr>
            <a:r>
              <a:rPr lang="en-US" sz="1948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CIDR range</a:t>
            </a:r>
          </a:p>
          <a:p>
            <a:pPr marL="420707" lvl="1" indent="-210354" algn="l">
              <a:lnSpc>
                <a:spcPts val="2728"/>
              </a:lnSpc>
              <a:buFont typeface="Arial"/>
              <a:buChar char="•"/>
            </a:pPr>
            <a:r>
              <a:rPr lang="en-US" sz="1948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Target-list file</a:t>
            </a:r>
          </a:p>
          <a:p>
            <a:pPr marL="420707" lvl="1" indent="-210354" algn="l">
              <a:lnSpc>
                <a:spcPts val="2728"/>
              </a:lnSpc>
              <a:buFont typeface="Arial"/>
              <a:buChar char="•"/>
            </a:pPr>
            <a:r>
              <a:rPr lang="en-US" sz="1948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Input validation and bounded CIDR expansion (1024 targets)</a:t>
            </a:r>
          </a:p>
          <a:p>
            <a:pPr algn="l">
              <a:lnSpc>
                <a:spcPts val="2728"/>
              </a:lnSpc>
            </a:pPr>
            <a:endParaRPr lang="en-US" sz="1948">
              <a:solidFill>
                <a:srgbClr val="FFFFFF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360031" y="2696457"/>
            <a:ext cx="4738476" cy="2609168"/>
            <a:chOff x="0" y="0"/>
            <a:chExt cx="812800" cy="447556"/>
          </a:xfrm>
        </p:grpSpPr>
        <p:sp>
          <p:nvSpPr>
            <p:cNvPr id="6" name="Freeform 6"/>
            <p:cNvSpPr/>
            <p:nvPr/>
          </p:nvSpPr>
          <p:spPr>
            <a:xfrm>
              <a:off x="46436" y="36889"/>
              <a:ext cx="719929" cy="410666"/>
            </a:xfrm>
            <a:custGeom>
              <a:avLst/>
              <a:gdLst/>
              <a:ahLst/>
              <a:cxnLst/>
              <a:rect l="l" t="t" r="r" b="b"/>
              <a:pathLst>
                <a:path w="719929" h="410666">
                  <a:moveTo>
                    <a:pt x="415980" y="24799"/>
                  </a:moveTo>
                  <a:lnTo>
                    <a:pt x="710348" y="348978"/>
                  </a:lnTo>
                  <a:cubicBezTo>
                    <a:pt x="720162" y="359785"/>
                    <a:pt x="722679" y="375363"/>
                    <a:pt x="716770" y="388711"/>
                  </a:cubicBezTo>
                  <a:cubicBezTo>
                    <a:pt x="710860" y="402059"/>
                    <a:pt x="697636" y="410667"/>
                    <a:pt x="683038" y="410667"/>
                  </a:cubicBezTo>
                  <a:lnTo>
                    <a:pt x="36890" y="410667"/>
                  </a:lnTo>
                  <a:cubicBezTo>
                    <a:pt x="22292" y="410667"/>
                    <a:pt x="9068" y="402059"/>
                    <a:pt x="3158" y="388711"/>
                  </a:cubicBezTo>
                  <a:cubicBezTo>
                    <a:pt x="-2751" y="375363"/>
                    <a:pt x="-234" y="359785"/>
                    <a:pt x="9580" y="348978"/>
                  </a:cubicBezTo>
                  <a:lnTo>
                    <a:pt x="303948" y="24799"/>
                  </a:lnTo>
                  <a:cubicBezTo>
                    <a:pt x="318289" y="9006"/>
                    <a:pt x="338631" y="0"/>
                    <a:pt x="359964" y="0"/>
                  </a:cubicBezTo>
                  <a:cubicBezTo>
                    <a:pt x="381297" y="0"/>
                    <a:pt x="401639" y="9006"/>
                    <a:pt x="415980" y="24799"/>
                  </a:cubicBezTo>
                  <a:close/>
                </a:path>
              </a:pathLst>
            </a:custGeom>
            <a:solidFill>
              <a:srgbClr val="12F6F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27000" y="160169"/>
              <a:ext cx="558800" cy="255419"/>
            </a:xfrm>
            <a:prstGeom prst="rect">
              <a:avLst/>
            </a:prstGeom>
          </p:spPr>
          <p:txBody>
            <a:bodyPr lIns="65911" tIns="65911" rIns="65911" bIns="65911" rtlCol="0" anchor="ctr"/>
            <a:lstStyle/>
            <a:p>
              <a:pPr algn="ctr">
                <a:lnSpc>
                  <a:spcPts val="329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586288" y="2696457"/>
            <a:ext cx="4738476" cy="2609168"/>
            <a:chOff x="0" y="0"/>
            <a:chExt cx="812800" cy="447556"/>
          </a:xfrm>
        </p:grpSpPr>
        <p:sp>
          <p:nvSpPr>
            <p:cNvPr id="9" name="Freeform 9"/>
            <p:cNvSpPr/>
            <p:nvPr/>
          </p:nvSpPr>
          <p:spPr>
            <a:xfrm>
              <a:off x="46436" y="36889"/>
              <a:ext cx="719929" cy="410666"/>
            </a:xfrm>
            <a:custGeom>
              <a:avLst/>
              <a:gdLst/>
              <a:ahLst/>
              <a:cxnLst/>
              <a:rect l="l" t="t" r="r" b="b"/>
              <a:pathLst>
                <a:path w="719929" h="410666">
                  <a:moveTo>
                    <a:pt x="415980" y="24799"/>
                  </a:moveTo>
                  <a:lnTo>
                    <a:pt x="710348" y="348978"/>
                  </a:lnTo>
                  <a:cubicBezTo>
                    <a:pt x="720162" y="359785"/>
                    <a:pt x="722679" y="375363"/>
                    <a:pt x="716770" y="388711"/>
                  </a:cubicBezTo>
                  <a:cubicBezTo>
                    <a:pt x="710860" y="402059"/>
                    <a:pt x="697636" y="410667"/>
                    <a:pt x="683038" y="410667"/>
                  </a:cubicBezTo>
                  <a:lnTo>
                    <a:pt x="36890" y="410667"/>
                  </a:lnTo>
                  <a:cubicBezTo>
                    <a:pt x="22292" y="410667"/>
                    <a:pt x="9068" y="402059"/>
                    <a:pt x="3158" y="388711"/>
                  </a:cubicBezTo>
                  <a:cubicBezTo>
                    <a:pt x="-2751" y="375363"/>
                    <a:pt x="-234" y="359785"/>
                    <a:pt x="9580" y="348978"/>
                  </a:cubicBezTo>
                  <a:lnTo>
                    <a:pt x="303948" y="24799"/>
                  </a:lnTo>
                  <a:cubicBezTo>
                    <a:pt x="318289" y="9006"/>
                    <a:pt x="338631" y="0"/>
                    <a:pt x="359964" y="0"/>
                  </a:cubicBezTo>
                  <a:cubicBezTo>
                    <a:pt x="381297" y="0"/>
                    <a:pt x="401639" y="9006"/>
                    <a:pt x="415980" y="24799"/>
                  </a:cubicBezTo>
                  <a:close/>
                </a:path>
              </a:pathLst>
            </a:custGeom>
            <a:solidFill>
              <a:srgbClr val="12F6F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27000" y="160169"/>
              <a:ext cx="558800" cy="255419"/>
            </a:xfrm>
            <a:prstGeom prst="rect">
              <a:avLst/>
            </a:prstGeom>
          </p:spPr>
          <p:txBody>
            <a:bodyPr lIns="65911" tIns="65911" rIns="65911" bIns="65911" rtlCol="0" anchor="ctr"/>
            <a:lstStyle/>
            <a:p>
              <a:pPr algn="ctr">
                <a:lnSpc>
                  <a:spcPts val="329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19245" y="2696457"/>
            <a:ext cx="4738476" cy="2609168"/>
            <a:chOff x="0" y="0"/>
            <a:chExt cx="812800" cy="447556"/>
          </a:xfrm>
        </p:grpSpPr>
        <p:sp>
          <p:nvSpPr>
            <p:cNvPr id="12" name="Freeform 12"/>
            <p:cNvSpPr/>
            <p:nvPr/>
          </p:nvSpPr>
          <p:spPr>
            <a:xfrm>
              <a:off x="46436" y="36889"/>
              <a:ext cx="719929" cy="410666"/>
            </a:xfrm>
            <a:custGeom>
              <a:avLst/>
              <a:gdLst/>
              <a:ahLst/>
              <a:cxnLst/>
              <a:rect l="l" t="t" r="r" b="b"/>
              <a:pathLst>
                <a:path w="719929" h="410666">
                  <a:moveTo>
                    <a:pt x="415980" y="24799"/>
                  </a:moveTo>
                  <a:lnTo>
                    <a:pt x="710348" y="348978"/>
                  </a:lnTo>
                  <a:cubicBezTo>
                    <a:pt x="720162" y="359785"/>
                    <a:pt x="722679" y="375363"/>
                    <a:pt x="716770" y="388711"/>
                  </a:cubicBezTo>
                  <a:cubicBezTo>
                    <a:pt x="710860" y="402059"/>
                    <a:pt x="697636" y="410667"/>
                    <a:pt x="683038" y="410667"/>
                  </a:cubicBezTo>
                  <a:lnTo>
                    <a:pt x="36890" y="410667"/>
                  </a:lnTo>
                  <a:cubicBezTo>
                    <a:pt x="22292" y="410667"/>
                    <a:pt x="9068" y="402059"/>
                    <a:pt x="3158" y="388711"/>
                  </a:cubicBezTo>
                  <a:cubicBezTo>
                    <a:pt x="-2751" y="375363"/>
                    <a:pt x="-234" y="359785"/>
                    <a:pt x="9580" y="348978"/>
                  </a:cubicBezTo>
                  <a:lnTo>
                    <a:pt x="303948" y="24799"/>
                  </a:lnTo>
                  <a:cubicBezTo>
                    <a:pt x="318289" y="9006"/>
                    <a:pt x="338631" y="0"/>
                    <a:pt x="359964" y="0"/>
                  </a:cubicBezTo>
                  <a:cubicBezTo>
                    <a:pt x="381297" y="0"/>
                    <a:pt x="401639" y="9006"/>
                    <a:pt x="415980" y="24799"/>
                  </a:cubicBezTo>
                  <a:close/>
                </a:path>
              </a:pathLst>
            </a:custGeom>
            <a:solidFill>
              <a:srgbClr val="12F6F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27000" y="160169"/>
              <a:ext cx="558800" cy="255419"/>
            </a:xfrm>
            <a:prstGeom prst="rect">
              <a:avLst/>
            </a:prstGeom>
          </p:spPr>
          <p:txBody>
            <a:bodyPr lIns="65911" tIns="65911" rIns="65911" bIns="65911" rtlCol="0" anchor="ctr"/>
            <a:lstStyle/>
            <a:p>
              <a:pPr algn="ctr">
                <a:lnSpc>
                  <a:spcPts val="3294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10800000">
            <a:off x="6951738" y="2696457"/>
            <a:ext cx="4738476" cy="2609168"/>
            <a:chOff x="0" y="0"/>
            <a:chExt cx="812800" cy="447556"/>
          </a:xfrm>
        </p:grpSpPr>
        <p:sp>
          <p:nvSpPr>
            <p:cNvPr id="15" name="Freeform 15"/>
            <p:cNvSpPr/>
            <p:nvPr/>
          </p:nvSpPr>
          <p:spPr>
            <a:xfrm>
              <a:off x="46436" y="36889"/>
              <a:ext cx="719929" cy="410666"/>
            </a:xfrm>
            <a:custGeom>
              <a:avLst/>
              <a:gdLst/>
              <a:ahLst/>
              <a:cxnLst/>
              <a:rect l="l" t="t" r="r" b="b"/>
              <a:pathLst>
                <a:path w="719929" h="410666">
                  <a:moveTo>
                    <a:pt x="415980" y="24799"/>
                  </a:moveTo>
                  <a:lnTo>
                    <a:pt x="710348" y="348978"/>
                  </a:lnTo>
                  <a:cubicBezTo>
                    <a:pt x="720162" y="359785"/>
                    <a:pt x="722679" y="375363"/>
                    <a:pt x="716770" y="388711"/>
                  </a:cubicBezTo>
                  <a:cubicBezTo>
                    <a:pt x="710860" y="402059"/>
                    <a:pt x="697636" y="410667"/>
                    <a:pt x="683038" y="410667"/>
                  </a:cubicBezTo>
                  <a:lnTo>
                    <a:pt x="36890" y="410667"/>
                  </a:lnTo>
                  <a:cubicBezTo>
                    <a:pt x="22292" y="410667"/>
                    <a:pt x="9068" y="402059"/>
                    <a:pt x="3158" y="388711"/>
                  </a:cubicBezTo>
                  <a:cubicBezTo>
                    <a:pt x="-2751" y="375363"/>
                    <a:pt x="-234" y="359785"/>
                    <a:pt x="9580" y="348978"/>
                  </a:cubicBezTo>
                  <a:lnTo>
                    <a:pt x="303948" y="24799"/>
                  </a:lnTo>
                  <a:cubicBezTo>
                    <a:pt x="318289" y="9006"/>
                    <a:pt x="338631" y="0"/>
                    <a:pt x="359964" y="0"/>
                  </a:cubicBezTo>
                  <a:cubicBezTo>
                    <a:pt x="381297" y="0"/>
                    <a:pt x="401639" y="9006"/>
                    <a:pt x="415980" y="24799"/>
                  </a:cubicBezTo>
                  <a:close/>
                </a:path>
              </a:pathLst>
            </a:custGeom>
            <a:solidFill>
              <a:srgbClr val="12F6F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27000" y="160169"/>
              <a:ext cx="558800" cy="255419"/>
            </a:xfrm>
            <a:prstGeom prst="rect">
              <a:avLst/>
            </a:prstGeom>
          </p:spPr>
          <p:txBody>
            <a:bodyPr lIns="65911" tIns="65911" rIns="65911" bIns="65911" rtlCol="0" anchor="ctr"/>
            <a:lstStyle/>
            <a:p>
              <a:pPr algn="ctr">
                <a:lnSpc>
                  <a:spcPts val="3294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10800000">
            <a:off x="13549524" y="2696457"/>
            <a:ext cx="4738476" cy="2609168"/>
            <a:chOff x="0" y="0"/>
            <a:chExt cx="812800" cy="447556"/>
          </a:xfrm>
        </p:grpSpPr>
        <p:sp>
          <p:nvSpPr>
            <p:cNvPr id="18" name="Freeform 18"/>
            <p:cNvSpPr/>
            <p:nvPr/>
          </p:nvSpPr>
          <p:spPr>
            <a:xfrm>
              <a:off x="46436" y="36889"/>
              <a:ext cx="719929" cy="410666"/>
            </a:xfrm>
            <a:custGeom>
              <a:avLst/>
              <a:gdLst/>
              <a:ahLst/>
              <a:cxnLst/>
              <a:rect l="l" t="t" r="r" b="b"/>
              <a:pathLst>
                <a:path w="719929" h="410666">
                  <a:moveTo>
                    <a:pt x="415980" y="24799"/>
                  </a:moveTo>
                  <a:lnTo>
                    <a:pt x="710348" y="348978"/>
                  </a:lnTo>
                  <a:cubicBezTo>
                    <a:pt x="720162" y="359785"/>
                    <a:pt x="722679" y="375363"/>
                    <a:pt x="716770" y="388711"/>
                  </a:cubicBezTo>
                  <a:cubicBezTo>
                    <a:pt x="710860" y="402059"/>
                    <a:pt x="697636" y="410667"/>
                    <a:pt x="683038" y="410667"/>
                  </a:cubicBezTo>
                  <a:lnTo>
                    <a:pt x="36890" y="410667"/>
                  </a:lnTo>
                  <a:cubicBezTo>
                    <a:pt x="22292" y="410667"/>
                    <a:pt x="9068" y="402059"/>
                    <a:pt x="3158" y="388711"/>
                  </a:cubicBezTo>
                  <a:cubicBezTo>
                    <a:pt x="-2751" y="375363"/>
                    <a:pt x="-234" y="359785"/>
                    <a:pt x="9580" y="348978"/>
                  </a:cubicBezTo>
                  <a:lnTo>
                    <a:pt x="303948" y="24799"/>
                  </a:lnTo>
                  <a:cubicBezTo>
                    <a:pt x="318289" y="9006"/>
                    <a:pt x="338631" y="0"/>
                    <a:pt x="359964" y="0"/>
                  </a:cubicBezTo>
                  <a:cubicBezTo>
                    <a:pt x="381297" y="0"/>
                    <a:pt x="401639" y="9006"/>
                    <a:pt x="415980" y="24799"/>
                  </a:cubicBezTo>
                  <a:close/>
                </a:path>
              </a:pathLst>
            </a:custGeom>
            <a:solidFill>
              <a:srgbClr val="12F6FC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27000" y="160169"/>
              <a:ext cx="558800" cy="255419"/>
            </a:xfrm>
            <a:prstGeom prst="rect">
              <a:avLst/>
            </a:prstGeom>
          </p:spPr>
          <p:txBody>
            <a:bodyPr lIns="65911" tIns="65911" rIns="65911" bIns="65911" rtlCol="0" anchor="ctr"/>
            <a:lstStyle/>
            <a:p>
              <a:pPr algn="ctr">
                <a:lnSpc>
                  <a:spcPts val="3294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346414" y="3934365"/>
            <a:ext cx="2806332" cy="92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7"/>
              </a:lnSpc>
            </a:pPr>
            <a:r>
              <a:rPr lang="en-US" sz="2647" b="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Quantum classification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82886" y="3934365"/>
            <a:ext cx="1868852" cy="92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7"/>
              </a:lnSpc>
            </a:pPr>
            <a:r>
              <a:rPr lang="en-US" sz="2647" b="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Network discovery</a:t>
            </a:r>
          </a:p>
        </p:txBody>
      </p:sp>
      <p:sp>
        <p:nvSpPr>
          <p:cNvPr id="22" name="Freeform 22"/>
          <p:cNvSpPr/>
          <p:nvPr/>
        </p:nvSpPr>
        <p:spPr>
          <a:xfrm>
            <a:off x="7595574" y="3875496"/>
            <a:ext cx="280455" cy="333875"/>
          </a:xfrm>
          <a:custGeom>
            <a:avLst/>
            <a:gdLst/>
            <a:ahLst/>
            <a:cxnLst/>
            <a:rect l="l" t="t" r="r" b="b"/>
            <a:pathLst>
              <a:path w="280455" h="333875">
                <a:moveTo>
                  <a:pt x="0" y="0"/>
                </a:moveTo>
                <a:lnTo>
                  <a:pt x="280455" y="0"/>
                </a:lnTo>
                <a:lnTo>
                  <a:pt x="280455" y="333875"/>
                </a:lnTo>
                <a:lnTo>
                  <a:pt x="0" y="333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3" name="AutoShape 23"/>
          <p:cNvSpPr/>
          <p:nvPr/>
        </p:nvSpPr>
        <p:spPr>
          <a:xfrm>
            <a:off x="3338273" y="4052534"/>
            <a:ext cx="945243" cy="0"/>
          </a:xfrm>
          <a:prstGeom prst="line">
            <a:avLst/>
          </a:prstGeom>
          <a:ln w="47625" cap="flat">
            <a:solidFill>
              <a:srgbClr val="12F6F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6790559" y="4052534"/>
            <a:ext cx="945243" cy="0"/>
          </a:xfrm>
          <a:prstGeom prst="line">
            <a:avLst/>
          </a:prstGeom>
          <a:ln w="47625" cap="flat">
            <a:solidFill>
              <a:srgbClr val="12F6F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>
            <a:off x="10084459" y="4052534"/>
            <a:ext cx="945243" cy="0"/>
          </a:xfrm>
          <a:prstGeom prst="line">
            <a:avLst/>
          </a:prstGeom>
          <a:ln w="47625" cap="flat">
            <a:solidFill>
              <a:srgbClr val="12F6F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>
            <a:off x="13549524" y="4083745"/>
            <a:ext cx="945243" cy="0"/>
          </a:xfrm>
          <a:prstGeom prst="line">
            <a:avLst/>
          </a:prstGeom>
          <a:ln w="47625" cap="flat">
            <a:solidFill>
              <a:srgbClr val="12F6F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TextBox 27"/>
          <p:cNvSpPr txBox="1"/>
          <p:nvPr/>
        </p:nvSpPr>
        <p:spPr>
          <a:xfrm>
            <a:off x="8450392" y="3078070"/>
            <a:ext cx="1868852" cy="92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7"/>
              </a:lnSpc>
            </a:pPr>
            <a:r>
              <a:rPr lang="en-US" sz="2647" b="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TLS inspection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09353" y="3078070"/>
            <a:ext cx="1868852" cy="92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7"/>
              </a:lnSpc>
            </a:pPr>
            <a:r>
              <a:rPr lang="en-US" sz="2647" b="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Target processing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984336" y="3308958"/>
            <a:ext cx="1868852" cy="461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7"/>
              </a:lnSpc>
            </a:pPr>
            <a:r>
              <a:rPr lang="en-US" sz="2647" b="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Reporting</a:t>
            </a:r>
          </a:p>
        </p:txBody>
      </p:sp>
      <p:sp>
        <p:nvSpPr>
          <p:cNvPr id="30" name="Freeform 30"/>
          <p:cNvSpPr/>
          <p:nvPr/>
        </p:nvSpPr>
        <p:spPr>
          <a:xfrm>
            <a:off x="4224537" y="3885596"/>
            <a:ext cx="280455" cy="333875"/>
          </a:xfrm>
          <a:custGeom>
            <a:avLst/>
            <a:gdLst/>
            <a:ahLst/>
            <a:cxnLst/>
            <a:rect l="l" t="t" r="r" b="b"/>
            <a:pathLst>
              <a:path w="280455" h="333875">
                <a:moveTo>
                  <a:pt x="0" y="0"/>
                </a:moveTo>
                <a:lnTo>
                  <a:pt x="280455" y="0"/>
                </a:lnTo>
                <a:lnTo>
                  <a:pt x="280455" y="333875"/>
                </a:lnTo>
                <a:lnTo>
                  <a:pt x="0" y="333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0959953" y="3875496"/>
            <a:ext cx="280455" cy="333875"/>
          </a:xfrm>
          <a:custGeom>
            <a:avLst/>
            <a:gdLst/>
            <a:ahLst/>
            <a:cxnLst/>
            <a:rect l="l" t="t" r="r" b="b"/>
            <a:pathLst>
              <a:path w="280455" h="333875">
                <a:moveTo>
                  <a:pt x="0" y="0"/>
                </a:moveTo>
                <a:lnTo>
                  <a:pt x="280455" y="0"/>
                </a:lnTo>
                <a:lnTo>
                  <a:pt x="280455" y="333875"/>
                </a:lnTo>
                <a:lnTo>
                  <a:pt x="0" y="333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4354540" y="3916808"/>
            <a:ext cx="280455" cy="333875"/>
          </a:xfrm>
          <a:custGeom>
            <a:avLst/>
            <a:gdLst/>
            <a:ahLst/>
            <a:cxnLst/>
            <a:rect l="l" t="t" r="r" b="b"/>
            <a:pathLst>
              <a:path w="280455" h="333875">
                <a:moveTo>
                  <a:pt x="0" y="0"/>
                </a:moveTo>
                <a:lnTo>
                  <a:pt x="280455" y="0"/>
                </a:lnTo>
                <a:lnTo>
                  <a:pt x="280455" y="333874"/>
                </a:lnTo>
                <a:lnTo>
                  <a:pt x="0" y="3338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1601583" y="5877715"/>
            <a:ext cx="2924414" cy="275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8"/>
              </a:lnSpc>
            </a:pPr>
            <a:r>
              <a:rPr lang="en-US" sz="1948">
                <a:solidFill>
                  <a:srgbClr val="12F6FC"/>
                </a:solidFill>
                <a:latin typeface="Anonymous Pro"/>
                <a:ea typeface="Anonymous Pro"/>
                <a:cs typeface="Anonymous Pro"/>
                <a:sym typeface="Anonymous Pro"/>
              </a:rPr>
              <a:t>classify.py</a:t>
            </a:r>
          </a:p>
          <a:p>
            <a:pPr marL="420707" lvl="1" indent="-210354" algn="l">
              <a:lnSpc>
                <a:spcPts val="2728"/>
              </a:lnSpc>
              <a:buFont typeface="Arial"/>
              <a:buChar char="•"/>
            </a:pPr>
            <a:r>
              <a:rPr lang="en-US" sz="1948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quantum-vulnerable</a:t>
            </a:r>
          </a:p>
          <a:p>
            <a:pPr marL="420707" lvl="1" indent="-210354" algn="l">
              <a:lnSpc>
                <a:spcPts val="2728"/>
              </a:lnSpc>
              <a:buFont typeface="Arial"/>
              <a:buChar char="•"/>
            </a:pPr>
            <a:r>
              <a:rPr lang="en-US" sz="1948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PQC</a:t>
            </a:r>
          </a:p>
          <a:p>
            <a:pPr marL="420707" lvl="1" indent="-210354" algn="l">
              <a:lnSpc>
                <a:spcPts val="2728"/>
              </a:lnSpc>
              <a:buFont typeface="Arial"/>
              <a:buChar char="•"/>
            </a:pPr>
            <a:r>
              <a:rPr lang="en-US" sz="1948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symmetric-safe</a:t>
            </a:r>
          </a:p>
          <a:p>
            <a:pPr marL="420707" lvl="1" indent="-210354" algn="l">
              <a:lnSpc>
                <a:spcPts val="2728"/>
              </a:lnSpc>
              <a:buFont typeface="Arial"/>
              <a:buChar char="•"/>
            </a:pPr>
            <a:r>
              <a:rPr lang="en-US" sz="1948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legacy-insecure</a:t>
            </a:r>
          </a:p>
          <a:p>
            <a:pPr marL="420707" lvl="1" indent="-210354" algn="l">
              <a:lnSpc>
                <a:spcPts val="2728"/>
              </a:lnSpc>
              <a:buFont typeface="Arial"/>
              <a:buChar char="•"/>
            </a:pPr>
            <a:r>
              <a:rPr lang="en-US" sz="1948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unknown</a:t>
            </a:r>
          </a:p>
          <a:p>
            <a:pPr algn="l">
              <a:lnSpc>
                <a:spcPts val="2728"/>
              </a:lnSpc>
            </a:pPr>
            <a:endParaRPr lang="en-US" sz="1948">
              <a:solidFill>
                <a:srgbClr val="FFFFFF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algn="l">
              <a:lnSpc>
                <a:spcPts val="2728"/>
              </a:lnSpc>
            </a:pPr>
            <a:endParaRPr lang="en-US" sz="1948">
              <a:solidFill>
                <a:srgbClr val="FFFFFF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7846013" y="5877715"/>
            <a:ext cx="3468122" cy="412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8"/>
              </a:lnSpc>
            </a:pPr>
            <a:r>
              <a:rPr lang="en-US" sz="1948">
                <a:solidFill>
                  <a:srgbClr val="12F6FC"/>
                </a:solidFill>
                <a:latin typeface="Anonymous Pro"/>
                <a:ea typeface="Anonymous Pro"/>
                <a:cs typeface="Anonymous Pro"/>
                <a:sym typeface="Anonymous Pro"/>
              </a:rPr>
              <a:t>tls_inspect.py</a:t>
            </a:r>
          </a:p>
          <a:p>
            <a:pPr marL="420707" lvl="1" indent="-210354" algn="l">
              <a:lnSpc>
                <a:spcPts val="2728"/>
              </a:lnSpc>
              <a:buFont typeface="Arial"/>
              <a:buChar char="•"/>
            </a:pPr>
            <a:r>
              <a:rPr lang="en-US" sz="1948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TLS version &amp; cipher</a:t>
            </a:r>
          </a:p>
          <a:p>
            <a:pPr marL="420707" lvl="1" indent="-210354" algn="l">
              <a:lnSpc>
                <a:spcPts val="2728"/>
              </a:lnSpc>
              <a:buFont typeface="Arial"/>
              <a:buChar char="•"/>
            </a:pPr>
            <a:r>
              <a:rPr lang="en-US" sz="1948" b="1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Certificate details:</a:t>
            </a:r>
            <a:r>
              <a:rPr lang="en-US" sz="1948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 subject, issuer, validity, SANs, self-signed status</a:t>
            </a:r>
          </a:p>
          <a:p>
            <a:pPr marL="420707" lvl="1" indent="-210354" algn="l">
              <a:lnSpc>
                <a:spcPts val="2728"/>
              </a:lnSpc>
              <a:buFont typeface="Arial"/>
              <a:buChar char="•"/>
            </a:pPr>
            <a:r>
              <a:rPr lang="en-US" sz="1948" b="1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Public key:</a:t>
            </a:r>
            <a:r>
              <a:rPr lang="en-US" sz="1948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 algorithm &amp; size/curve</a:t>
            </a:r>
          </a:p>
          <a:p>
            <a:pPr marL="420707" lvl="1" indent="-210354" algn="l">
              <a:lnSpc>
                <a:spcPts val="2728"/>
              </a:lnSpc>
              <a:buFont typeface="Arial"/>
              <a:buChar char="•"/>
            </a:pPr>
            <a:r>
              <a:rPr lang="en-US" sz="1948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Signature algorithm</a:t>
            </a:r>
          </a:p>
          <a:p>
            <a:pPr marL="420707" lvl="1" indent="-210354" algn="l">
              <a:lnSpc>
                <a:spcPts val="2728"/>
              </a:lnSpc>
              <a:buFont typeface="Arial"/>
              <a:buChar char="•"/>
            </a:pPr>
            <a:r>
              <a:rPr lang="en-US" sz="1948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SHA-256 fingerprint</a:t>
            </a:r>
          </a:p>
          <a:p>
            <a:pPr algn="l">
              <a:lnSpc>
                <a:spcPts val="2728"/>
              </a:lnSpc>
            </a:pPr>
            <a:endParaRPr lang="en-US" sz="1948">
              <a:solidFill>
                <a:srgbClr val="FFFFFF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algn="l">
              <a:lnSpc>
                <a:spcPts val="2728"/>
              </a:lnSpc>
            </a:pPr>
            <a:endParaRPr lang="en-US" sz="1948">
              <a:solidFill>
                <a:srgbClr val="FFFFFF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4095720" y="5887240"/>
            <a:ext cx="3639518" cy="3234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8"/>
              </a:lnSpc>
            </a:pPr>
            <a:r>
              <a:rPr lang="en-US" sz="2048">
                <a:solidFill>
                  <a:srgbClr val="12F6FC"/>
                </a:solidFill>
                <a:latin typeface="Anonymous Pro"/>
                <a:ea typeface="Anonymous Pro"/>
                <a:cs typeface="Anonymous Pro"/>
                <a:sym typeface="Anonymous Pro"/>
              </a:rPr>
              <a:t>discovery.py</a:t>
            </a:r>
          </a:p>
          <a:p>
            <a:pPr marL="442297" lvl="1" indent="-221148" algn="l">
              <a:lnSpc>
                <a:spcPts val="2868"/>
              </a:lnSpc>
              <a:buFont typeface="Arial"/>
              <a:buChar char="•"/>
            </a:pPr>
            <a:r>
              <a:rPr lang="en-US" sz="2048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DNS/rDNS, reachability and safe banner collection.</a:t>
            </a:r>
          </a:p>
          <a:p>
            <a:pPr marL="442297" lvl="1" indent="-221148" algn="l">
              <a:lnSpc>
                <a:spcPts val="2868"/>
              </a:lnSpc>
              <a:buFont typeface="Arial"/>
              <a:buChar char="•"/>
            </a:pPr>
            <a:r>
              <a:rPr lang="en-US" sz="2048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TCP connect scan against </a:t>
            </a:r>
            <a:r>
              <a:rPr lang="en-US" sz="2048" b="1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24 defined common ports.</a:t>
            </a:r>
          </a:p>
          <a:p>
            <a:pPr marL="420707" lvl="1" indent="-210354" algn="l">
              <a:lnSpc>
                <a:spcPts val="2728"/>
              </a:lnSpc>
              <a:buFont typeface="Arial"/>
              <a:buChar char="•"/>
            </a:pPr>
            <a:r>
              <a:rPr lang="en-US" sz="1948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Same-L2 MAC observation</a:t>
            </a:r>
          </a:p>
          <a:p>
            <a:pPr algn="l">
              <a:lnSpc>
                <a:spcPts val="2868"/>
              </a:lnSpc>
            </a:pPr>
            <a:endParaRPr lang="en-US" sz="1948">
              <a:solidFill>
                <a:srgbClr val="FFFFFF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4721073" y="5857951"/>
            <a:ext cx="3245671" cy="137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8"/>
              </a:lnSpc>
            </a:pPr>
            <a:r>
              <a:rPr lang="en-US" sz="1948">
                <a:solidFill>
                  <a:srgbClr val="12F6FC"/>
                </a:solidFill>
                <a:latin typeface="Anonymous Pro"/>
                <a:ea typeface="Anonymous Pro"/>
                <a:cs typeface="Anonymous Pro"/>
                <a:sym typeface="Anonymous Pro"/>
              </a:rPr>
              <a:t>report.py</a:t>
            </a:r>
          </a:p>
          <a:p>
            <a:pPr marL="420707" lvl="1" indent="-210354" algn="l">
              <a:lnSpc>
                <a:spcPts val="2728"/>
              </a:lnSpc>
              <a:buFont typeface="Arial"/>
              <a:buChar char="•"/>
            </a:pPr>
            <a:r>
              <a:rPr lang="en-US" sz="1948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Deterministic JSON</a:t>
            </a:r>
          </a:p>
          <a:p>
            <a:pPr marL="420707" lvl="1" indent="-210354" algn="l">
              <a:lnSpc>
                <a:spcPts val="2728"/>
              </a:lnSpc>
              <a:buFont typeface="Arial"/>
              <a:buChar char="•"/>
            </a:pPr>
            <a:r>
              <a:rPr lang="en-US" sz="1948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Optional CSV summary</a:t>
            </a:r>
          </a:p>
          <a:p>
            <a:pPr algn="l">
              <a:lnSpc>
                <a:spcPts val="2728"/>
              </a:lnSpc>
            </a:pPr>
            <a:endParaRPr lang="en-US" sz="1948">
              <a:solidFill>
                <a:srgbClr val="FFFFFF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360031" y="5819974"/>
            <a:ext cx="3750097" cy="3823248"/>
            <a:chOff x="0" y="0"/>
            <a:chExt cx="1172241" cy="119510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172241" cy="1195107"/>
            </a:xfrm>
            <a:custGeom>
              <a:avLst/>
              <a:gdLst/>
              <a:ahLst/>
              <a:cxnLst/>
              <a:rect l="l" t="t" r="r" b="b"/>
              <a:pathLst>
                <a:path w="1172241" h="1195107">
                  <a:moveTo>
                    <a:pt x="0" y="0"/>
                  </a:moveTo>
                  <a:lnTo>
                    <a:pt x="1172241" y="0"/>
                  </a:lnTo>
                  <a:lnTo>
                    <a:pt x="1172241" y="1195107"/>
                  </a:lnTo>
                  <a:lnTo>
                    <a:pt x="0" y="1195107"/>
                  </a:lnTo>
                  <a:close/>
                </a:path>
              </a:pathLst>
            </a:custGeom>
            <a:ln w="38100" cap="sq">
              <a:solidFill>
                <a:srgbClr val="12F6FC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1172241" cy="12427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4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057816" y="5824292"/>
            <a:ext cx="3750097" cy="3818930"/>
            <a:chOff x="0" y="0"/>
            <a:chExt cx="1172241" cy="119375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72241" cy="1193757"/>
            </a:xfrm>
            <a:custGeom>
              <a:avLst/>
              <a:gdLst/>
              <a:ahLst/>
              <a:cxnLst/>
              <a:rect l="l" t="t" r="r" b="b"/>
              <a:pathLst>
                <a:path w="1172241" h="1193757">
                  <a:moveTo>
                    <a:pt x="0" y="0"/>
                  </a:moveTo>
                  <a:lnTo>
                    <a:pt x="1172241" y="0"/>
                  </a:lnTo>
                  <a:lnTo>
                    <a:pt x="1172241" y="1193757"/>
                  </a:lnTo>
                  <a:lnTo>
                    <a:pt x="0" y="1193757"/>
                  </a:lnTo>
                  <a:close/>
                </a:path>
              </a:pathLst>
            </a:custGeom>
            <a:ln w="38100" cap="sq">
              <a:solidFill>
                <a:srgbClr val="12F6FC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1172241" cy="1241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4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793363" y="5824292"/>
            <a:ext cx="3750097" cy="3818930"/>
            <a:chOff x="0" y="0"/>
            <a:chExt cx="1172241" cy="1193757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172241" cy="1193757"/>
            </a:xfrm>
            <a:custGeom>
              <a:avLst/>
              <a:gdLst/>
              <a:ahLst/>
              <a:cxnLst/>
              <a:rect l="l" t="t" r="r" b="b"/>
              <a:pathLst>
                <a:path w="1172241" h="1193757">
                  <a:moveTo>
                    <a:pt x="0" y="0"/>
                  </a:moveTo>
                  <a:lnTo>
                    <a:pt x="1172241" y="0"/>
                  </a:lnTo>
                  <a:lnTo>
                    <a:pt x="1172241" y="1193757"/>
                  </a:lnTo>
                  <a:lnTo>
                    <a:pt x="0" y="1193757"/>
                  </a:lnTo>
                  <a:close/>
                </a:path>
              </a:pathLst>
            </a:custGeom>
            <a:ln w="38100" cap="sq">
              <a:solidFill>
                <a:srgbClr val="12F6FC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1172241" cy="1241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4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1504635" y="5824292"/>
            <a:ext cx="3178676" cy="3818930"/>
            <a:chOff x="0" y="0"/>
            <a:chExt cx="993620" cy="1193757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93620" cy="1193757"/>
            </a:xfrm>
            <a:custGeom>
              <a:avLst/>
              <a:gdLst/>
              <a:ahLst/>
              <a:cxnLst/>
              <a:rect l="l" t="t" r="r" b="b"/>
              <a:pathLst>
                <a:path w="993620" h="1193757">
                  <a:moveTo>
                    <a:pt x="0" y="0"/>
                  </a:moveTo>
                  <a:lnTo>
                    <a:pt x="993620" y="0"/>
                  </a:lnTo>
                  <a:lnTo>
                    <a:pt x="993620" y="1193757"/>
                  </a:lnTo>
                  <a:lnTo>
                    <a:pt x="0" y="1193757"/>
                  </a:lnTo>
                  <a:close/>
                </a:path>
              </a:pathLst>
            </a:custGeom>
            <a:ln w="38100" cap="sq">
              <a:solidFill>
                <a:srgbClr val="12F6FC"/>
              </a:solidFill>
              <a:prstDash val="solid"/>
              <a:miter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993620" cy="1241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4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4683311" y="5824292"/>
            <a:ext cx="3283433" cy="3818930"/>
            <a:chOff x="0" y="0"/>
            <a:chExt cx="1026366" cy="1193757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26366" cy="1193757"/>
            </a:xfrm>
            <a:custGeom>
              <a:avLst/>
              <a:gdLst/>
              <a:ahLst/>
              <a:cxnLst/>
              <a:rect l="l" t="t" r="r" b="b"/>
              <a:pathLst>
                <a:path w="1026366" h="1193757">
                  <a:moveTo>
                    <a:pt x="0" y="0"/>
                  </a:moveTo>
                  <a:lnTo>
                    <a:pt x="1026366" y="0"/>
                  </a:lnTo>
                  <a:lnTo>
                    <a:pt x="1026366" y="1193757"/>
                  </a:lnTo>
                  <a:lnTo>
                    <a:pt x="0" y="1193757"/>
                  </a:lnTo>
                  <a:close/>
                </a:path>
              </a:pathLst>
            </a:custGeom>
            <a:ln w="38100" cap="sq">
              <a:solidFill>
                <a:srgbClr val="12F6FC"/>
              </a:solidFill>
              <a:prstDash val="solid"/>
              <a:miter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0" y="-47625"/>
              <a:ext cx="1026366" cy="1241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4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8076" y="969073"/>
            <a:ext cx="5883634" cy="818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29"/>
              </a:lnSpc>
            </a:pPr>
            <a:r>
              <a:rPr lang="en-US" sz="5061">
                <a:solidFill>
                  <a:srgbClr val="12F6FC"/>
                </a:solidFill>
                <a:latin typeface="Anonymous Pro"/>
                <a:ea typeface="Anonymous Pro"/>
                <a:cs typeface="Anonymous Pro"/>
                <a:sym typeface="Anonymous Pro"/>
              </a:rPr>
              <a:t>Implementation</a:t>
            </a:r>
          </a:p>
        </p:txBody>
      </p:sp>
      <p:sp>
        <p:nvSpPr>
          <p:cNvPr id="3" name="AutoShape 3"/>
          <p:cNvSpPr/>
          <p:nvPr/>
        </p:nvSpPr>
        <p:spPr>
          <a:xfrm>
            <a:off x="6090186" y="1402110"/>
            <a:ext cx="12197814" cy="0"/>
          </a:xfrm>
          <a:prstGeom prst="line">
            <a:avLst/>
          </a:prstGeom>
          <a:ln w="38100" cap="flat">
            <a:solidFill>
              <a:srgbClr val="12F6FC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0" y="6283013"/>
            <a:ext cx="18233666" cy="5172626"/>
          </a:xfrm>
          <a:custGeom>
            <a:avLst/>
            <a:gdLst/>
            <a:ahLst/>
            <a:cxnLst/>
            <a:rect l="l" t="t" r="r" b="b"/>
            <a:pathLst>
              <a:path w="18233666" h="5172626">
                <a:moveTo>
                  <a:pt x="0" y="0"/>
                </a:moveTo>
                <a:lnTo>
                  <a:pt x="18233666" y="0"/>
                </a:lnTo>
                <a:lnTo>
                  <a:pt x="18233666" y="5172626"/>
                </a:lnTo>
                <a:lnTo>
                  <a:pt x="0" y="51726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6000"/>
            </a:blip>
            <a:stretch>
              <a:fillRect t="-55033" b="-56468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3487400" y="2011168"/>
            <a:ext cx="5877576" cy="47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0"/>
              </a:lnSpc>
            </a:pPr>
            <a:r>
              <a:rPr lang="en-US" sz="2685" dirty="0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Core Implementation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99178" y="2223790"/>
            <a:ext cx="5883634" cy="1424414"/>
            <a:chOff x="0" y="0"/>
            <a:chExt cx="7844845" cy="1899218"/>
          </a:xfrm>
        </p:grpSpPr>
        <p:sp>
          <p:nvSpPr>
            <p:cNvPr id="8" name="TextBox 8"/>
            <p:cNvSpPr txBox="1"/>
            <p:nvPr/>
          </p:nvSpPr>
          <p:spPr>
            <a:xfrm>
              <a:off x="0" y="509147"/>
              <a:ext cx="5638909" cy="1390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80"/>
                </a:lnSpc>
              </a:pPr>
              <a:r>
                <a:rPr lang="en-US" sz="1985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&gt; Ubuntu Linux VM</a:t>
              </a:r>
            </a:p>
            <a:p>
              <a:pPr algn="l">
                <a:lnSpc>
                  <a:spcPts val="2780"/>
                </a:lnSpc>
              </a:pPr>
              <a:r>
                <a:rPr lang="en-US" sz="1985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&gt; Python 3</a:t>
              </a:r>
            </a:p>
            <a:p>
              <a:pPr algn="l">
                <a:lnSpc>
                  <a:spcPts val="2780"/>
                </a:lnSpc>
              </a:pPr>
              <a:r>
                <a:rPr lang="en-US" sz="1985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&gt; Python virtual environment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78" y="-57150"/>
              <a:ext cx="7836768" cy="5131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00"/>
                </a:lnSpc>
              </a:pPr>
              <a:r>
                <a:rPr lang="en-US" sz="2285">
                  <a:solidFill>
                    <a:srgbClr val="12F6FC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Environment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18076" y="4253402"/>
            <a:ext cx="5883634" cy="1424414"/>
            <a:chOff x="0" y="0"/>
            <a:chExt cx="7844845" cy="1899218"/>
          </a:xfrm>
        </p:grpSpPr>
        <p:sp>
          <p:nvSpPr>
            <p:cNvPr id="11" name="TextBox 11"/>
            <p:cNvSpPr txBox="1"/>
            <p:nvPr/>
          </p:nvSpPr>
          <p:spPr>
            <a:xfrm>
              <a:off x="0" y="509147"/>
              <a:ext cx="7075114" cy="1390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80"/>
                </a:lnSpc>
              </a:pPr>
              <a:r>
                <a:rPr lang="en-US" sz="1985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&gt; Per-operation timeouts</a:t>
              </a:r>
            </a:p>
            <a:p>
              <a:pPr algn="l">
                <a:lnSpc>
                  <a:spcPts val="2780"/>
                </a:lnSpc>
              </a:pPr>
              <a:r>
                <a:rPr lang="en-US" sz="1985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&gt; Closed/filtered ports are</a:t>
              </a:r>
            </a:p>
            <a:p>
              <a:pPr algn="l">
                <a:lnSpc>
                  <a:spcPts val="2780"/>
                </a:lnSpc>
              </a:pPr>
              <a:r>
                <a:rPr lang="en-US" sz="1985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observations, not scanner failures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78" y="-57150"/>
              <a:ext cx="7836768" cy="5131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00"/>
                </a:lnSpc>
              </a:pPr>
              <a:r>
                <a:rPr lang="en-US" sz="2285">
                  <a:solidFill>
                    <a:srgbClr val="12F6FC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Network Design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306777" y="2219882"/>
            <a:ext cx="5620112" cy="3538964"/>
            <a:chOff x="0" y="0"/>
            <a:chExt cx="7493482" cy="4718618"/>
          </a:xfrm>
        </p:grpSpPr>
        <p:sp>
          <p:nvSpPr>
            <p:cNvPr id="14" name="TextBox 14"/>
            <p:cNvSpPr txBox="1"/>
            <p:nvPr/>
          </p:nvSpPr>
          <p:spPr>
            <a:xfrm>
              <a:off x="0" y="509147"/>
              <a:ext cx="7493482" cy="4209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80"/>
                </a:lnSpc>
              </a:pPr>
              <a:r>
                <a:rPr lang="en-US" sz="1985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&gt; Clean Ctrl+C handling</a:t>
              </a:r>
            </a:p>
            <a:p>
              <a:pPr algn="l">
                <a:lnSpc>
                  <a:spcPts val="2780"/>
                </a:lnSpc>
              </a:pPr>
              <a:r>
                <a:rPr lang="en-US" sz="1985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&gt; Meaningful exit codes</a:t>
              </a:r>
            </a:p>
            <a:p>
              <a:pPr algn="l">
                <a:lnSpc>
                  <a:spcPts val="2780"/>
                </a:lnSpc>
              </a:pPr>
              <a:r>
                <a:rPr lang="en-US" sz="1985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&gt; Invalid targets skipped with recorded</a:t>
              </a:r>
            </a:p>
            <a:p>
              <a:pPr algn="l">
                <a:lnSpc>
                  <a:spcPts val="2780"/>
                </a:lnSpc>
              </a:pPr>
              <a:r>
                <a:rPr lang="en-US" sz="1985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reason</a:t>
              </a:r>
            </a:p>
            <a:p>
              <a:pPr algn="l">
                <a:lnSpc>
                  <a:spcPts val="2780"/>
                </a:lnSpc>
              </a:pPr>
              <a:r>
                <a:rPr lang="en-US" sz="1985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&gt; Network and TLS errors represented</a:t>
              </a:r>
            </a:p>
            <a:p>
              <a:pPr algn="l">
                <a:lnSpc>
                  <a:spcPts val="2780"/>
                </a:lnSpc>
              </a:pPr>
              <a:r>
                <a:rPr lang="en-US" sz="1985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explicitly</a:t>
              </a:r>
            </a:p>
            <a:p>
              <a:pPr algn="l">
                <a:lnSpc>
                  <a:spcPts val="2780"/>
                </a:lnSpc>
              </a:pPr>
              <a:r>
                <a:rPr lang="en-US" sz="1985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&gt; No raw SYN scanning, brute force,</a:t>
              </a:r>
            </a:p>
            <a:p>
              <a:pPr algn="l">
                <a:lnSpc>
                  <a:spcPts val="2780"/>
                </a:lnSpc>
              </a:pPr>
              <a:r>
                <a:rPr lang="en-US" sz="1985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exploitation, or authentication</a:t>
              </a:r>
            </a:p>
            <a:p>
              <a:pPr algn="l">
                <a:lnSpc>
                  <a:spcPts val="2780"/>
                </a:lnSpc>
              </a:pPr>
              <a:endParaRPr lang="en-US" sz="1985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03" y="-57150"/>
              <a:ext cx="6502724" cy="5131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00"/>
                </a:lnSpc>
              </a:pPr>
              <a:r>
                <a:rPr lang="en-US" sz="2285">
                  <a:solidFill>
                    <a:srgbClr val="12F6FC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Robustness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18076" y="6115966"/>
            <a:ext cx="5883634" cy="1424414"/>
            <a:chOff x="0" y="0"/>
            <a:chExt cx="7844845" cy="1899218"/>
          </a:xfrm>
        </p:grpSpPr>
        <p:sp>
          <p:nvSpPr>
            <p:cNvPr id="17" name="TextBox 17"/>
            <p:cNvSpPr txBox="1"/>
            <p:nvPr/>
          </p:nvSpPr>
          <p:spPr>
            <a:xfrm>
              <a:off x="0" y="509147"/>
              <a:ext cx="7075114" cy="1390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80"/>
                </a:lnSpc>
              </a:pPr>
              <a:r>
                <a:rPr lang="en-US" sz="1985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&gt; Automated test suite</a:t>
              </a:r>
            </a:p>
            <a:p>
              <a:pPr algn="l">
                <a:lnSpc>
                  <a:spcPts val="2780"/>
                </a:lnSpc>
              </a:pPr>
              <a:r>
                <a:rPr lang="en-US" sz="1985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&gt; 89 tests passing</a:t>
              </a:r>
            </a:p>
            <a:p>
              <a:pPr algn="l">
                <a:lnSpc>
                  <a:spcPts val="2780"/>
                </a:lnSpc>
              </a:pPr>
              <a:endParaRPr lang="en-US" sz="1985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78" y="-57150"/>
              <a:ext cx="7836768" cy="5131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00"/>
                </a:lnSpc>
              </a:pPr>
              <a:r>
                <a:rPr lang="en-US" sz="2285">
                  <a:solidFill>
                    <a:srgbClr val="12F6FC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Verification</a:t>
              </a:r>
            </a:p>
          </p:txBody>
        </p:sp>
      </p:grp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E18FFAA-ED73-F3E3-B195-E24A6527B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520162"/>
              </p:ext>
            </p:extLst>
          </p:nvPr>
        </p:nvGraphicFramePr>
        <p:xfrm>
          <a:off x="12626066" y="2747957"/>
          <a:ext cx="5204734" cy="4525965"/>
        </p:xfrm>
        <a:graphic>
          <a:graphicData uri="http://schemas.openxmlformats.org/drawingml/2006/table">
            <a:tbl>
              <a:tblPr/>
              <a:tblGrid>
                <a:gridCol w="2602367">
                  <a:extLst>
                    <a:ext uri="{9D8B030D-6E8A-4147-A177-3AD203B41FA5}">
                      <a16:colId xmlns:a16="http://schemas.microsoft.com/office/drawing/2014/main" val="1891272484"/>
                    </a:ext>
                  </a:extLst>
                </a:gridCol>
                <a:gridCol w="2602367">
                  <a:extLst>
                    <a:ext uri="{9D8B030D-6E8A-4147-A177-3AD203B41FA5}">
                      <a16:colId xmlns:a16="http://schemas.microsoft.com/office/drawing/2014/main" val="650580196"/>
                    </a:ext>
                  </a:extLst>
                </a:gridCol>
              </a:tblGrid>
              <a:tr h="502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400" dirty="0">
                          <a:solidFill>
                            <a:srgbClr val="FFFFFF"/>
                          </a:solidFill>
                          <a:effectLst/>
                        </a:rPr>
                        <a:t>CLI</a:t>
                      </a:r>
                    </a:p>
                  </a:txBody>
                  <a:tcPr marL="91434" marR="91434" marT="45717" marB="45717" anchor="ctr">
                    <a:lnL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400" dirty="0" err="1">
                          <a:solidFill>
                            <a:srgbClr val="FFFFFF"/>
                          </a:solidFill>
                          <a:effectLst/>
                        </a:rPr>
                        <a:t>argparse</a:t>
                      </a:r>
                      <a:endParaRPr lang="en-AE" sz="14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91434" marR="91434" marT="45717" marB="45717" anchor="ctr">
                    <a:lnL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342041"/>
                  </a:ext>
                </a:extLst>
              </a:tr>
              <a:tr h="502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400">
                          <a:solidFill>
                            <a:srgbClr val="FFFFFF"/>
                          </a:solidFill>
                          <a:effectLst/>
                        </a:rPr>
                        <a:t>IPv4 / CIDR</a:t>
                      </a:r>
                    </a:p>
                  </a:txBody>
                  <a:tcPr marL="91434" marR="91434" marT="45717" marB="45717" anchor="ctr">
                    <a:lnL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400">
                          <a:solidFill>
                            <a:srgbClr val="FFFFFF"/>
                          </a:solidFill>
                          <a:effectLst/>
                        </a:rPr>
                        <a:t>ipaddress</a:t>
                      </a:r>
                    </a:p>
                  </a:txBody>
                  <a:tcPr marL="91434" marR="91434" marT="45717" marB="45717" anchor="ctr">
                    <a:lnL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260107"/>
                  </a:ext>
                </a:extLst>
              </a:tr>
              <a:tr h="502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400">
                          <a:solidFill>
                            <a:srgbClr val="FFFFFF"/>
                          </a:solidFill>
                          <a:effectLst/>
                        </a:rPr>
                        <a:t>Networking</a:t>
                      </a:r>
                    </a:p>
                  </a:txBody>
                  <a:tcPr marL="91434" marR="91434" marT="45717" marB="45717" anchor="ctr">
                    <a:lnL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400" dirty="0">
                          <a:solidFill>
                            <a:srgbClr val="FFFFFF"/>
                          </a:solidFill>
                          <a:effectLst/>
                        </a:rPr>
                        <a:t>socket</a:t>
                      </a:r>
                    </a:p>
                  </a:txBody>
                  <a:tcPr marL="91434" marR="91434" marT="45717" marB="45717" anchor="ctr">
                    <a:lnL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636185"/>
                  </a:ext>
                </a:extLst>
              </a:tr>
              <a:tr h="502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400">
                          <a:solidFill>
                            <a:srgbClr val="FFFFFF"/>
                          </a:solidFill>
                          <a:effectLst/>
                        </a:rPr>
                        <a:t>TLS</a:t>
                      </a:r>
                    </a:p>
                  </a:txBody>
                  <a:tcPr marL="91434" marR="91434" marT="45717" marB="45717" anchor="ctr">
                    <a:lnL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400">
                          <a:solidFill>
                            <a:srgbClr val="FFFFFF"/>
                          </a:solidFill>
                          <a:effectLst/>
                        </a:rPr>
                        <a:t>ssl</a:t>
                      </a:r>
                    </a:p>
                  </a:txBody>
                  <a:tcPr marL="91434" marR="91434" marT="45717" marB="45717" anchor="ctr">
                    <a:lnL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922350"/>
                  </a:ext>
                </a:extLst>
              </a:tr>
              <a:tr h="502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400">
                          <a:solidFill>
                            <a:srgbClr val="FFFFFF"/>
                          </a:solidFill>
                          <a:effectLst/>
                        </a:rPr>
                        <a:t>Concurrency</a:t>
                      </a:r>
                    </a:p>
                  </a:txBody>
                  <a:tcPr marL="91434" marR="91434" marT="45717" marB="45717" anchor="ctr">
                    <a:lnL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400">
                          <a:solidFill>
                            <a:srgbClr val="FFFFFF"/>
                          </a:solidFill>
                          <a:effectLst/>
                        </a:rPr>
                        <a:t>ThreadPoolExecutor</a:t>
                      </a:r>
                    </a:p>
                  </a:txBody>
                  <a:tcPr marL="91434" marR="91434" marT="45717" marB="45717" anchor="ctr">
                    <a:lnL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414775"/>
                  </a:ext>
                </a:extLst>
              </a:tr>
              <a:tr h="502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400">
                          <a:solidFill>
                            <a:srgbClr val="FFFFFF"/>
                          </a:solidFill>
                          <a:effectLst/>
                        </a:rPr>
                        <a:t>MAC / neighbor data</a:t>
                      </a:r>
                    </a:p>
                  </a:txBody>
                  <a:tcPr marL="91434" marR="91434" marT="45717" marB="45717" anchor="ctr">
                    <a:lnL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400">
                          <a:solidFill>
                            <a:srgbClr val="FFFFFF"/>
                          </a:solidFill>
                          <a:effectLst/>
                        </a:rPr>
                        <a:t>Linux ip command</a:t>
                      </a:r>
                    </a:p>
                  </a:txBody>
                  <a:tcPr marL="91434" marR="91434" marT="45717" marB="45717" anchor="ctr">
                    <a:lnL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792573"/>
                  </a:ext>
                </a:extLst>
              </a:tr>
              <a:tr h="502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400">
                          <a:solidFill>
                            <a:srgbClr val="FFFFFF"/>
                          </a:solidFill>
                          <a:effectLst/>
                        </a:rPr>
                        <a:t>Certificate parsing</a:t>
                      </a:r>
                    </a:p>
                  </a:txBody>
                  <a:tcPr marL="91434" marR="91434" marT="45717" marB="45717" anchor="ctr">
                    <a:lnL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400">
                          <a:solidFill>
                            <a:srgbClr val="FFFFFF"/>
                          </a:solidFill>
                          <a:effectLst/>
                        </a:rPr>
                        <a:t>cryptography</a:t>
                      </a:r>
                    </a:p>
                  </a:txBody>
                  <a:tcPr marL="91434" marR="91434" marT="45717" marB="45717" anchor="ctr">
                    <a:lnL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057862"/>
                  </a:ext>
                </a:extLst>
              </a:tr>
              <a:tr h="502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400">
                          <a:solidFill>
                            <a:srgbClr val="FFFFFF"/>
                          </a:solidFill>
                          <a:effectLst/>
                        </a:rPr>
                        <a:t>Output</a:t>
                      </a:r>
                    </a:p>
                  </a:txBody>
                  <a:tcPr marL="91434" marR="91434" marT="45717" marB="45717" anchor="ctr">
                    <a:lnL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400">
                          <a:solidFill>
                            <a:srgbClr val="FFFFFF"/>
                          </a:solidFill>
                          <a:effectLst/>
                        </a:rPr>
                        <a:t>json + csv</a:t>
                      </a:r>
                    </a:p>
                  </a:txBody>
                  <a:tcPr marL="91434" marR="91434" marT="45717" marB="45717" anchor="ctr">
                    <a:lnL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029825"/>
                  </a:ext>
                </a:extLst>
              </a:tr>
              <a:tr h="502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400">
                          <a:solidFill>
                            <a:srgbClr val="FFFFFF"/>
                          </a:solidFill>
                          <a:effectLst/>
                        </a:rPr>
                        <a:t>Testing</a:t>
                      </a:r>
                    </a:p>
                  </a:txBody>
                  <a:tcPr marL="91434" marR="91434" marT="45717" marB="45717" anchor="ctr">
                    <a:lnL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400" dirty="0" err="1">
                          <a:solidFill>
                            <a:srgbClr val="FFFFFF"/>
                          </a:solidFill>
                          <a:effectLst/>
                        </a:rPr>
                        <a:t>pytest</a:t>
                      </a:r>
                      <a:endParaRPr lang="en-AE" sz="14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91434" marR="91434" marT="45717" marB="45717" anchor="ctr">
                    <a:lnL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12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8842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66149" y="2930603"/>
            <a:ext cx="8632644" cy="6327697"/>
            <a:chOff x="0" y="0"/>
            <a:chExt cx="11510192" cy="843693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1510192" cy="8436930"/>
              <a:chOff x="0" y="0"/>
              <a:chExt cx="2423680" cy="1776549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23680" cy="1776549"/>
              </a:xfrm>
              <a:custGeom>
                <a:avLst/>
                <a:gdLst/>
                <a:ahLst/>
                <a:cxnLst/>
                <a:rect l="l" t="t" r="r" b="b"/>
                <a:pathLst>
                  <a:path w="2423680" h="1776549">
                    <a:moveTo>
                      <a:pt x="0" y="0"/>
                    </a:moveTo>
                    <a:lnTo>
                      <a:pt x="2423680" y="0"/>
                    </a:lnTo>
                    <a:lnTo>
                      <a:pt x="2423680" y="1776549"/>
                    </a:lnTo>
                    <a:lnTo>
                      <a:pt x="0" y="1776549"/>
                    </a:lnTo>
                    <a:close/>
                  </a:path>
                </a:pathLst>
              </a:custGeom>
              <a:ln w="38100" cap="sq">
                <a:solidFill>
                  <a:srgbClr val="12F6FC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2423680" cy="18241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1351240" cy="8436930"/>
              <a:chOff x="0" y="0"/>
              <a:chExt cx="284528" cy="177654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4528" cy="1776549"/>
              </a:xfrm>
              <a:custGeom>
                <a:avLst/>
                <a:gdLst/>
                <a:ahLst/>
                <a:cxnLst/>
                <a:rect l="l" t="t" r="r" b="b"/>
                <a:pathLst>
                  <a:path w="284528" h="1776549">
                    <a:moveTo>
                      <a:pt x="0" y="0"/>
                    </a:moveTo>
                    <a:lnTo>
                      <a:pt x="284528" y="0"/>
                    </a:lnTo>
                    <a:lnTo>
                      <a:pt x="284528" y="1776549"/>
                    </a:lnTo>
                    <a:lnTo>
                      <a:pt x="0" y="1776549"/>
                    </a:lnTo>
                    <a:close/>
                  </a:path>
                </a:pathLst>
              </a:custGeom>
              <a:ln w="38100" cap="sq">
                <a:solidFill>
                  <a:srgbClr val="12F6FC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284528" cy="18241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4"/>
                  </a:lnSpc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8966149" y="8130499"/>
            <a:ext cx="1001224" cy="631154"/>
            <a:chOff x="0" y="0"/>
            <a:chExt cx="281101" cy="17720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1101" cy="177201"/>
            </a:xfrm>
            <a:custGeom>
              <a:avLst/>
              <a:gdLst/>
              <a:ahLst/>
              <a:cxnLst/>
              <a:rect l="l" t="t" r="r" b="b"/>
              <a:pathLst>
                <a:path w="281101" h="177201">
                  <a:moveTo>
                    <a:pt x="0" y="0"/>
                  </a:moveTo>
                  <a:lnTo>
                    <a:pt x="281101" y="0"/>
                  </a:lnTo>
                  <a:lnTo>
                    <a:pt x="281101" y="177201"/>
                  </a:lnTo>
                  <a:lnTo>
                    <a:pt x="0" y="177201"/>
                  </a:lnTo>
                  <a:close/>
                </a:path>
              </a:pathLst>
            </a:custGeom>
            <a:solidFill>
              <a:srgbClr val="12F6FC"/>
            </a:solidFill>
            <a:ln w="38100" cap="sq">
              <a:solidFill>
                <a:srgbClr val="12F6FC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81101" cy="224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4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535211" y="3081540"/>
            <a:ext cx="2805593" cy="2755326"/>
          </a:xfrm>
          <a:custGeom>
            <a:avLst/>
            <a:gdLst/>
            <a:ahLst/>
            <a:cxnLst/>
            <a:rect l="l" t="t" r="r" b="b"/>
            <a:pathLst>
              <a:path w="2805593" h="2755326">
                <a:moveTo>
                  <a:pt x="0" y="0"/>
                </a:moveTo>
                <a:lnTo>
                  <a:pt x="2805593" y="0"/>
                </a:lnTo>
                <a:lnTo>
                  <a:pt x="2805593" y="2755326"/>
                </a:lnTo>
                <a:lnTo>
                  <a:pt x="0" y="27553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909718" y="3055993"/>
            <a:ext cx="2783192" cy="2780873"/>
          </a:xfrm>
          <a:custGeom>
            <a:avLst/>
            <a:gdLst/>
            <a:ahLst/>
            <a:cxnLst/>
            <a:rect l="l" t="t" r="r" b="b"/>
            <a:pathLst>
              <a:path w="2783192" h="2780873">
                <a:moveTo>
                  <a:pt x="0" y="0"/>
                </a:moveTo>
                <a:lnTo>
                  <a:pt x="2783192" y="0"/>
                </a:lnTo>
                <a:lnTo>
                  <a:pt x="2783192" y="2780873"/>
                </a:lnTo>
                <a:lnTo>
                  <a:pt x="0" y="27808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535211" y="6218362"/>
            <a:ext cx="2805593" cy="2782213"/>
          </a:xfrm>
          <a:custGeom>
            <a:avLst/>
            <a:gdLst/>
            <a:ahLst/>
            <a:cxnLst/>
            <a:rect l="l" t="t" r="r" b="b"/>
            <a:pathLst>
              <a:path w="2805593" h="2782213">
                <a:moveTo>
                  <a:pt x="0" y="0"/>
                </a:moveTo>
                <a:lnTo>
                  <a:pt x="2805593" y="0"/>
                </a:lnTo>
                <a:lnTo>
                  <a:pt x="2805593" y="2782213"/>
                </a:lnTo>
                <a:lnTo>
                  <a:pt x="0" y="27822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4776457" y="6100805"/>
            <a:ext cx="3049714" cy="2899770"/>
          </a:xfrm>
          <a:custGeom>
            <a:avLst/>
            <a:gdLst/>
            <a:ahLst/>
            <a:cxnLst/>
            <a:rect l="l" t="t" r="r" b="b"/>
            <a:pathLst>
              <a:path w="3049714" h="2899770">
                <a:moveTo>
                  <a:pt x="0" y="0"/>
                </a:moveTo>
                <a:lnTo>
                  <a:pt x="3049714" y="0"/>
                </a:lnTo>
                <a:lnTo>
                  <a:pt x="3049714" y="2899770"/>
                </a:lnTo>
                <a:lnTo>
                  <a:pt x="0" y="2899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28700" y="971550"/>
            <a:ext cx="5351174" cy="810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00"/>
              </a:lnSpc>
            </a:pPr>
            <a:r>
              <a:rPr lang="en-US" sz="4961">
                <a:solidFill>
                  <a:srgbClr val="12F6FC"/>
                </a:solidFill>
                <a:latin typeface="Anonymous Pro"/>
                <a:ea typeface="Anonymous Pro"/>
                <a:cs typeface="Anonymous Pro"/>
                <a:sym typeface="Anonymous Pro"/>
              </a:rPr>
              <a:t>Live Demo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05523" y="3380980"/>
            <a:ext cx="6720427" cy="5627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2F6FC"/>
                </a:solidFill>
                <a:latin typeface="Anonymous Pro"/>
                <a:ea typeface="Anonymous Pro"/>
                <a:cs typeface="Anonymous Pro"/>
                <a:sym typeface="Anonymous Pro"/>
              </a:rPr>
              <a:t>1. CLI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python3 qscan.py --help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FFFFFF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2F6FC"/>
                </a:solidFill>
                <a:latin typeface="Anonymous Pro"/>
                <a:ea typeface="Anonymous Pro"/>
                <a:cs typeface="Anonymous Pro"/>
                <a:sym typeface="Anonymous Pro"/>
              </a:rPr>
              <a:t>2. Automated tests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python3 -m pytest -q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FFFFFF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2F6FC"/>
                </a:solidFill>
                <a:latin typeface="Anonymous Pro"/>
                <a:ea typeface="Anonymous Pro"/>
                <a:cs typeface="Anonymous Pro"/>
                <a:sym typeface="Anonymous Pro"/>
              </a:rPr>
              <a:t>3. Authorized scan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python3 qscan.py --target &lt;LAB_TARGET&gt; --output results.json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FFFFFF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2F6FC"/>
                </a:solidFill>
                <a:latin typeface="Anonymous Pro"/>
                <a:ea typeface="Anonymous Pro"/>
                <a:cs typeface="Anonymous Pro"/>
                <a:sym typeface="Anonymous Pro"/>
              </a:rPr>
              <a:t>4. Inspect report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python3 -m json.tool results.json</a:t>
            </a:r>
          </a:p>
          <a:p>
            <a:pPr algn="l">
              <a:lnSpc>
                <a:spcPts val="3035"/>
              </a:lnSpc>
            </a:pPr>
            <a:endParaRPr lang="en-US" sz="2499">
              <a:solidFill>
                <a:srgbClr val="FFFFFF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sp>
        <p:nvSpPr>
          <p:cNvPr id="18" name="AutoShape 18"/>
          <p:cNvSpPr/>
          <p:nvPr/>
        </p:nvSpPr>
        <p:spPr>
          <a:xfrm flipV="1">
            <a:off x="4776457" y="1424208"/>
            <a:ext cx="14583713" cy="0"/>
          </a:xfrm>
          <a:prstGeom prst="line">
            <a:avLst/>
          </a:prstGeom>
          <a:ln w="38100" cap="flat">
            <a:solidFill>
              <a:srgbClr val="12F6FC"/>
            </a:solidFill>
            <a:prstDash val="sysDash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9611" y="917829"/>
            <a:ext cx="5883634" cy="952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61"/>
              </a:lnSpc>
            </a:pPr>
            <a:r>
              <a:rPr lang="en-US" sz="5861">
                <a:solidFill>
                  <a:srgbClr val="12F6FC"/>
                </a:solidFill>
                <a:latin typeface="Anonymous Pro"/>
                <a:ea typeface="Anonymous Pro"/>
                <a:cs typeface="Anonymous Pro"/>
                <a:sym typeface="Anonymous Pro"/>
              </a:rPr>
              <a:t>Results 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4248295" y="1427256"/>
            <a:ext cx="14515849" cy="19050"/>
          </a:xfrm>
          <a:prstGeom prst="line">
            <a:avLst/>
          </a:prstGeom>
          <a:ln w="38100" cap="flat">
            <a:solidFill>
              <a:srgbClr val="12F6FC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7290276" y="2245275"/>
            <a:ext cx="10857217" cy="676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281">
                <a:solidFill>
                  <a:srgbClr val="12F6FC"/>
                </a:solidFill>
                <a:latin typeface="Anonymous Pro"/>
                <a:ea typeface="Anonymous Pro"/>
                <a:cs typeface="Anonymous Pro"/>
                <a:sym typeface="Anonymous Pro"/>
              </a:rPr>
              <a:t>Network Discovery Validation —</a:t>
            </a:r>
            <a:r>
              <a:rPr lang="en-US" sz="2281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 scanme.nmap.org</a:t>
            </a:r>
          </a:p>
          <a:p>
            <a:pPr marL="492662" lvl="1" indent="-246331" algn="l">
              <a:lnSpc>
                <a:spcPts val="3833"/>
              </a:lnSpc>
              <a:buFont typeface="Arial"/>
              <a:buChar char="•"/>
            </a:pPr>
            <a:r>
              <a:rPr lang="en-US" sz="2281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Reachability established through TCP port observation</a:t>
            </a:r>
          </a:p>
          <a:p>
            <a:pPr marL="492662" lvl="1" indent="-246331" algn="l">
              <a:lnSpc>
                <a:spcPts val="3833"/>
              </a:lnSpc>
              <a:buFont typeface="Arial"/>
              <a:buChar char="•"/>
            </a:pPr>
            <a:r>
              <a:rPr lang="en-US" sz="2281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SSH 22/tcp observed open</a:t>
            </a:r>
          </a:p>
          <a:p>
            <a:pPr marL="492662" lvl="1" indent="-246331" algn="l">
              <a:lnSpc>
                <a:spcPts val="3833"/>
              </a:lnSpc>
              <a:buFont typeface="Arial"/>
              <a:buChar char="•"/>
            </a:pPr>
            <a:r>
              <a:rPr lang="en-US" sz="2281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HTTP 80/tcp observed open</a:t>
            </a:r>
          </a:p>
          <a:p>
            <a:pPr marL="492662" lvl="1" indent="-246331" algn="l">
              <a:lnSpc>
                <a:spcPts val="3833"/>
              </a:lnSpc>
              <a:buFont typeface="Arial"/>
              <a:buChar char="•"/>
            </a:pPr>
            <a:r>
              <a:rPr lang="en-US" sz="2281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SSH banner successfully collected</a:t>
            </a:r>
          </a:p>
          <a:p>
            <a:pPr marL="492662" lvl="1" indent="-246331" algn="l">
              <a:lnSpc>
                <a:spcPts val="3833"/>
              </a:lnSpc>
              <a:buFont typeface="Arial"/>
              <a:buChar char="•"/>
            </a:pPr>
            <a:r>
              <a:rPr lang="en-US" sz="2281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Routed target correctly reported MAC as not_applicable</a:t>
            </a:r>
          </a:p>
          <a:p>
            <a:pPr algn="l">
              <a:lnSpc>
                <a:spcPts val="3833"/>
              </a:lnSpc>
            </a:pPr>
            <a:r>
              <a:rPr lang="en-US" sz="2281">
                <a:solidFill>
                  <a:srgbClr val="12F6FC"/>
                </a:solidFill>
                <a:latin typeface="Anonymous Pro"/>
                <a:ea typeface="Anonymous Pro"/>
                <a:cs typeface="Anonymous Pro"/>
                <a:sym typeface="Anonymous Pro"/>
              </a:rPr>
              <a:t>Controlled TLS Validation —</a:t>
            </a:r>
            <a:r>
              <a:rPr lang="en-US" sz="2281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 127.0.0.1:8443</a:t>
            </a:r>
          </a:p>
          <a:p>
            <a:pPr marL="492662" lvl="1" indent="-246331" algn="l">
              <a:lnSpc>
                <a:spcPts val="3833"/>
              </a:lnSpc>
              <a:buFont typeface="Arial"/>
              <a:buChar char="•"/>
            </a:pPr>
            <a:r>
              <a:rPr lang="en-US" sz="2281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TLS: TLS 1.3</a:t>
            </a:r>
          </a:p>
          <a:p>
            <a:pPr marL="492662" lvl="1" indent="-246331" algn="l">
              <a:lnSpc>
                <a:spcPts val="3833"/>
              </a:lnSpc>
              <a:buFont typeface="Arial"/>
              <a:buChar char="•"/>
            </a:pPr>
            <a:r>
              <a:rPr lang="en-US" sz="2281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Cipher: TLS_AES_256_GCM_SHA384</a:t>
            </a:r>
          </a:p>
          <a:p>
            <a:pPr marL="492662" lvl="1" indent="-246331" algn="l">
              <a:lnSpc>
                <a:spcPts val="3833"/>
              </a:lnSpc>
              <a:buFont typeface="Arial"/>
              <a:buChar char="•"/>
            </a:pPr>
            <a:r>
              <a:rPr lang="en-US" sz="2281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Public Key: RSA 2048</a:t>
            </a:r>
          </a:p>
          <a:p>
            <a:pPr marL="492662" lvl="1" indent="-246331" algn="l">
              <a:lnSpc>
                <a:spcPts val="3833"/>
              </a:lnSpc>
              <a:buFont typeface="Arial"/>
              <a:buChar char="•"/>
            </a:pPr>
            <a:r>
              <a:rPr lang="en-US" sz="2281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Signature: sha256WithRSAEncryption</a:t>
            </a:r>
          </a:p>
          <a:p>
            <a:pPr marL="492662" lvl="1" indent="-246331" algn="l">
              <a:lnSpc>
                <a:spcPts val="3833"/>
              </a:lnSpc>
              <a:buFont typeface="Arial"/>
              <a:buChar char="•"/>
            </a:pPr>
            <a:r>
              <a:rPr lang="en-US" sz="2281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Certificate metadata and SHA-256 fingerprint successfully extracted</a:t>
            </a:r>
          </a:p>
          <a:p>
            <a:pPr algn="l">
              <a:lnSpc>
                <a:spcPts val="3833"/>
              </a:lnSpc>
            </a:pPr>
            <a:endParaRPr lang="en-US" sz="2281">
              <a:solidFill>
                <a:srgbClr val="FFFFFF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316128" y="9009480"/>
            <a:ext cx="14029892" cy="80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4"/>
              </a:lnSpc>
              <a:spcBef>
                <a:spcPct val="0"/>
              </a:spcBef>
            </a:pPr>
            <a:r>
              <a:rPr lang="en-US" sz="2353" b="1" i="1">
                <a:solidFill>
                  <a:srgbClr val="12F6FC"/>
                </a:solidFill>
                <a:latin typeface="Anonymous Pro Bold Italics"/>
                <a:ea typeface="Anonymous Pro Bold Italics"/>
                <a:cs typeface="Anonymous Pro Bold Italics"/>
                <a:sym typeface="Anonymous Pro Bold Italics"/>
              </a:rPr>
              <a:t>Key finding: </a:t>
            </a:r>
            <a:r>
              <a:rPr lang="en-US" sz="2353" i="1">
                <a:solidFill>
                  <a:srgbClr val="12F6FC"/>
                </a:solidFill>
                <a:latin typeface="Anonymous Pro Italics"/>
                <a:ea typeface="Anonymous Pro Italics"/>
                <a:cs typeface="Anonymous Pro Italics"/>
                <a:sym typeface="Anonymous Pro Italics"/>
              </a:rPr>
              <a:t>Quantum readiness is evaluated per cryptographic component, not per host.</a:t>
            </a:r>
          </a:p>
          <a:p>
            <a:pPr algn="ctr">
              <a:lnSpc>
                <a:spcPts val="3294"/>
              </a:lnSpc>
              <a:spcBef>
                <a:spcPct val="0"/>
              </a:spcBef>
            </a:pPr>
            <a:endParaRPr lang="en-US" sz="2353" i="1">
              <a:solidFill>
                <a:srgbClr val="12F6FC"/>
              </a:solidFill>
              <a:latin typeface="Anonymous Pro Italics"/>
              <a:ea typeface="Anonymous Pro Italics"/>
              <a:cs typeface="Anonymous Pro Italics"/>
              <a:sym typeface="Anonymous Pro Itali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EFE3A54-C9B4-88BF-82D5-1893EE5143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686354"/>
              </p:ext>
            </p:extLst>
          </p:nvPr>
        </p:nvGraphicFramePr>
        <p:xfrm>
          <a:off x="879611" y="2551519"/>
          <a:ext cx="5923376" cy="5714998"/>
        </p:xfrm>
        <a:graphic>
          <a:graphicData uri="http://schemas.openxmlformats.org/drawingml/2006/table">
            <a:tbl>
              <a:tblPr/>
              <a:tblGrid>
                <a:gridCol w="2961688">
                  <a:extLst>
                    <a:ext uri="{9D8B030D-6E8A-4147-A177-3AD203B41FA5}">
                      <a16:colId xmlns:a16="http://schemas.microsoft.com/office/drawing/2014/main" val="2580420583"/>
                    </a:ext>
                  </a:extLst>
                </a:gridCol>
                <a:gridCol w="2961688">
                  <a:extLst>
                    <a:ext uri="{9D8B030D-6E8A-4147-A177-3AD203B41FA5}">
                      <a16:colId xmlns:a16="http://schemas.microsoft.com/office/drawing/2014/main" val="431981643"/>
                    </a:ext>
                  </a:extLst>
                </a:gridCol>
              </a:tblGrid>
              <a:tr h="9686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b="1">
                          <a:solidFill>
                            <a:srgbClr val="FFFFFF"/>
                          </a:solidFill>
                          <a:effectLst/>
                        </a:rPr>
                        <a:t>Observed algorithm type</a:t>
                      </a:r>
                    </a:p>
                  </a:txBody>
                  <a:tcPr marL="82936" marR="82936" marT="41468" marB="41468" anchor="ctr">
                    <a:lnL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b="1" dirty="0">
                          <a:solidFill>
                            <a:srgbClr val="FFFFFF"/>
                          </a:solidFill>
                          <a:effectLst/>
                        </a:rPr>
                        <a:t>Q-SCOUT category</a:t>
                      </a:r>
                    </a:p>
                  </a:txBody>
                  <a:tcPr marL="82936" marR="82936" marT="41468" marB="41468" anchor="ctr">
                    <a:lnL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439082"/>
                  </a:ext>
                </a:extLst>
              </a:tr>
              <a:tr h="953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solidFill>
                            <a:srgbClr val="FFFFFF"/>
                          </a:solidFill>
                          <a:effectLst/>
                        </a:rPr>
                        <a:t>RSA, EC / ECDSA, Ed25519 / Ed448</a:t>
                      </a:r>
                    </a:p>
                  </a:txBody>
                  <a:tcPr marL="82936" marR="82936" marT="41468" marB="41468" anchor="ctr">
                    <a:lnL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900">
                          <a:solidFill>
                            <a:srgbClr val="FFFFFF"/>
                          </a:solidFill>
                          <a:effectLst/>
                        </a:rPr>
                        <a:t>quantum-vulnerable</a:t>
                      </a:r>
                    </a:p>
                  </a:txBody>
                  <a:tcPr marL="82936" marR="82936" marT="41468" marB="41468" anchor="ctr">
                    <a:lnL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662972"/>
                  </a:ext>
                </a:extLst>
              </a:tr>
              <a:tr h="980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solidFill>
                            <a:srgbClr val="FFFFFF"/>
                          </a:solidFill>
                          <a:effectLst/>
                        </a:rPr>
                        <a:t>ML-KEM / Kyber naming, ML-DSA</a:t>
                      </a:r>
                    </a:p>
                  </a:txBody>
                  <a:tcPr marL="82936" marR="82936" marT="41468" marB="41468" anchor="ctr">
                    <a:lnL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solidFill>
                            <a:srgbClr val="FFFFFF"/>
                          </a:solidFill>
                          <a:effectLst/>
                        </a:rPr>
                        <a:t>PQC</a:t>
                      </a:r>
                    </a:p>
                  </a:txBody>
                  <a:tcPr marL="82936" marR="82936" marT="41468" marB="41468" anchor="ctr">
                    <a:lnL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664"/>
                  </a:ext>
                </a:extLst>
              </a:tr>
              <a:tr h="980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solidFill>
                            <a:srgbClr val="FFFFFF"/>
                          </a:solidFill>
                          <a:effectLst/>
                        </a:rPr>
                        <a:t>AES-128 / AES-256, SHA-256 / SHA-384</a:t>
                      </a:r>
                    </a:p>
                  </a:txBody>
                  <a:tcPr marL="82936" marR="82936" marT="41468" marB="41468" anchor="ctr">
                    <a:lnL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solidFill>
                            <a:srgbClr val="FFFFFF"/>
                          </a:solidFill>
                          <a:effectLst/>
                        </a:rPr>
                        <a:t>symmetric-safe</a:t>
                      </a:r>
                    </a:p>
                  </a:txBody>
                  <a:tcPr marL="82936" marR="82936" marT="41468" marB="41468" anchor="ctr">
                    <a:lnL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167411"/>
                  </a:ext>
                </a:extLst>
              </a:tr>
              <a:tr h="916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solidFill>
                            <a:srgbClr val="FFFFFF"/>
                          </a:solidFill>
                          <a:effectLst/>
                        </a:rPr>
                        <a:t>MD5 / SHA-1 signatures</a:t>
                      </a:r>
                    </a:p>
                  </a:txBody>
                  <a:tcPr marL="82936" marR="82936" marT="41468" marB="41468" anchor="ctr">
                    <a:lnL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solidFill>
                            <a:srgbClr val="FFFFFF"/>
                          </a:solidFill>
                          <a:effectLst/>
                        </a:rPr>
                        <a:t>legacy-insecure</a:t>
                      </a:r>
                    </a:p>
                  </a:txBody>
                  <a:tcPr marL="82936" marR="82936" marT="41468" marB="41468" anchor="ctr">
                    <a:lnL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739761"/>
                  </a:ext>
                </a:extLst>
              </a:tr>
              <a:tr h="916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solidFill>
                            <a:srgbClr val="FFFFFF"/>
                          </a:solidFill>
                          <a:effectLst/>
                        </a:rPr>
                        <a:t>Unrecognized algorithms</a:t>
                      </a:r>
                    </a:p>
                  </a:txBody>
                  <a:tcPr marL="82936" marR="82936" marT="41468" marB="41468" anchor="ctr">
                    <a:lnL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dirty="0">
                          <a:solidFill>
                            <a:srgbClr val="FFFFFF"/>
                          </a:solidFill>
                          <a:effectLst/>
                        </a:rPr>
                        <a:t>unknown</a:t>
                      </a:r>
                    </a:p>
                  </a:txBody>
                  <a:tcPr marL="82936" marR="82936" marT="41468" marB="41468" anchor="ctr">
                    <a:lnL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01F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513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71550"/>
            <a:ext cx="5883634" cy="1582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71"/>
              </a:lnSpc>
            </a:pPr>
            <a:r>
              <a:rPr lang="en-US" sz="4861">
                <a:solidFill>
                  <a:srgbClr val="12F6FC"/>
                </a:solidFill>
                <a:latin typeface="Anonymous Pro"/>
                <a:ea typeface="Anonymous Pro"/>
                <a:cs typeface="Anonymous Pro"/>
                <a:sym typeface="Anonymous Pro"/>
              </a:rPr>
              <a:t>Problems &amp; Solutions</a:t>
            </a:r>
          </a:p>
        </p:txBody>
      </p:sp>
      <p:sp>
        <p:nvSpPr>
          <p:cNvPr id="3" name="AutoShape 3"/>
          <p:cNvSpPr/>
          <p:nvPr/>
        </p:nvSpPr>
        <p:spPr>
          <a:xfrm>
            <a:off x="4914812" y="2097462"/>
            <a:ext cx="13373188" cy="0"/>
          </a:xfrm>
          <a:prstGeom prst="line">
            <a:avLst/>
          </a:prstGeom>
          <a:ln w="38100" cap="flat">
            <a:solidFill>
              <a:srgbClr val="12F6FC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V="1">
            <a:off x="9163050" y="3126269"/>
            <a:ext cx="0" cy="6132031"/>
          </a:xfrm>
          <a:prstGeom prst="line">
            <a:avLst/>
          </a:prstGeom>
          <a:ln w="38100" cap="flat">
            <a:solidFill>
              <a:srgbClr val="12F6FC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9718011" y="3189472"/>
            <a:ext cx="7915437" cy="4472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2F6FC"/>
                </a:solidFill>
                <a:latin typeface="Anonymous Pro"/>
                <a:ea typeface="Anonymous Pro"/>
                <a:cs typeface="Anonymous Pro"/>
                <a:sym typeface="Anonymous Pro"/>
              </a:rPr>
              <a:t>3. Banner Collection</a:t>
            </a:r>
          </a:p>
          <a:p>
            <a:pPr marL="604462" lvl="1" indent="-302231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Issue: Not every open service provides a banner immediately.</a:t>
            </a:r>
          </a:p>
          <a:p>
            <a:pPr marL="604462" lvl="1" indent="-302231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Fix: Used best-effort banner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    collection and represented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                unavailable banners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                  without treating them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                    as errors.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FFFFFF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04317" y="3189472"/>
            <a:ext cx="7603370" cy="6312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7"/>
              </a:lnSpc>
            </a:pPr>
            <a:r>
              <a:rPr lang="en-US" sz="2733">
                <a:solidFill>
                  <a:srgbClr val="12F6FC"/>
                </a:solidFill>
                <a:latin typeface="Anonymous Pro"/>
                <a:ea typeface="Anonymous Pro"/>
                <a:cs typeface="Anonymous Pro"/>
                <a:sym typeface="Anonymous Pro"/>
              </a:rPr>
              <a:t>1. Clean Test Execution</a:t>
            </a:r>
          </a:p>
          <a:p>
            <a:pPr marL="590246" lvl="1" indent="-295123" algn="l">
              <a:lnSpc>
                <a:spcPts val="3827"/>
              </a:lnSpc>
              <a:buFont typeface="Arial"/>
              <a:buChar char="•"/>
            </a:pPr>
            <a:r>
              <a:rPr lang="en-US" sz="2733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Issue: Tests initially required manual PYTHONPATH configuration.</a:t>
            </a:r>
          </a:p>
          <a:p>
            <a:pPr marL="590246" lvl="1" indent="-295123" algn="l">
              <a:lnSpc>
                <a:spcPts val="3827"/>
              </a:lnSpc>
              <a:buFont typeface="Arial"/>
              <a:buChar char="•"/>
            </a:pPr>
            <a:r>
              <a:rPr lang="en-US" sz="2733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Fix: Added tests/conftest.py so pytest -q runs directly.</a:t>
            </a:r>
          </a:p>
          <a:p>
            <a:pPr algn="l">
              <a:lnSpc>
                <a:spcPts val="3827"/>
              </a:lnSpc>
            </a:pPr>
            <a:endParaRPr lang="en-US" sz="2733">
              <a:solidFill>
                <a:srgbClr val="FFFFFF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algn="l">
              <a:lnSpc>
                <a:spcPts val="3827"/>
              </a:lnSpc>
            </a:pPr>
            <a:r>
              <a:rPr lang="en-US" sz="2733">
                <a:solidFill>
                  <a:srgbClr val="12F6FC"/>
                </a:solidFill>
                <a:latin typeface="Anonymous Pro"/>
                <a:ea typeface="Anonymous Pro"/>
                <a:cs typeface="Anonymous Pro"/>
                <a:sym typeface="Anonymous Pro"/>
              </a:rPr>
              <a:t>2. TLS Testing</a:t>
            </a:r>
          </a:p>
          <a:p>
            <a:pPr marL="590246" lvl="1" indent="-295123" algn="l">
              <a:lnSpc>
                <a:spcPts val="3827"/>
              </a:lnSpc>
              <a:buFont typeface="Arial"/>
              <a:buChar char="•"/>
            </a:pPr>
            <a:r>
              <a:rPr lang="en-US" sz="2733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Issue: The validation target had no available TLS service.</a:t>
            </a:r>
          </a:p>
          <a:p>
            <a:pPr marL="590246" lvl="1" indent="-295123" algn="l">
              <a:lnSpc>
                <a:spcPts val="3827"/>
              </a:lnSpc>
              <a:buFont typeface="Arial"/>
              <a:buChar char="•"/>
            </a:pPr>
            <a:r>
              <a:rPr lang="en-US" sz="2733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Fix: Created a controlled local TLS endpoint on 127.0.0.1:8443 using a self-signed certificate.</a:t>
            </a:r>
          </a:p>
          <a:p>
            <a:pPr algn="l">
              <a:lnSpc>
                <a:spcPts val="3827"/>
              </a:lnSpc>
            </a:pPr>
            <a:endParaRPr lang="en-US" sz="2733">
              <a:solidFill>
                <a:srgbClr val="FFFFFF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grpSp>
        <p:nvGrpSpPr>
          <p:cNvPr id="7" name="Group 7"/>
          <p:cNvGrpSpPr/>
          <p:nvPr/>
        </p:nvGrpSpPr>
        <p:grpSpPr>
          <a:xfrm rot="-10800000">
            <a:off x="9718011" y="5930560"/>
            <a:ext cx="3990841" cy="3990841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 flipV="1"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0" y="2865666"/>
                  </a:moveTo>
                  <a:lnTo>
                    <a:pt x="0" y="6350000"/>
                  </a:lnTo>
                  <a:lnTo>
                    <a:pt x="5404803" y="6350000"/>
                  </a:lnTo>
                  <a:cubicBezTo>
                    <a:pt x="5773928" y="5980874"/>
                    <a:pt x="5980874" y="5773928"/>
                    <a:pt x="6350000" y="5404802"/>
                  </a:cubicBezTo>
                  <a:lnTo>
                    <a:pt x="6350000" y="0"/>
                  </a:lnTo>
                  <a:lnTo>
                    <a:pt x="2865666" y="0"/>
                  </a:lnTo>
                  <a:cubicBezTo>
                    <a:pt x="1746555" y="1119111"/>
                    <a:pt x="1119111" y="1746555"/>
                    <a:pt x="0" y="2865666"/>
                  </a:cubicBezTo>
                  <a:close/>
                </a:path>
              </a:pathLst>
            </a:custGeom>
            <a:blipFill>
              <a:blip r:embed="rId2"/>
              <a:stretch>
                <a:fillRect l="-25187" r="-25187"/>
              </a:stretch>
            </a:blipFill>
            <a:ln w="38100" cap="sq">
              <a:solidFill>
                <a:srgbClr val="12F6FC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94253"/>
            <a:ext cx="5883634" cy="756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13"/>
              </a:lnSpc>
            </a:pPr>
            <a:r>
              <a:rPr lang="en-US" sz="4661">
                <a:solidFill>
                  <a:srgbClr val="12F6FC"/>
                </a:solidFill>
                <a:latin typeface="Anonymous Pro"/>
                <a:ea typeface="Anonymous Pro"/>
                <a:cs typeface="Anonymous Pro"/>
                <a:sym typeface="Anonymous Pro"/>
              </a:rPr>
              <a:t>Limitations </a:t>
            </a:r>
          </a:p>
        </p:txBody>
      </p:sp>
      <p:sp>
        <p:nvSpPr>
          <p:cNvPr id="3" name="AutoShape 3"/>
          <p:cNvSpPr/>
          <p:nvPr/>
        </p:nvSpPr>
        <p:spPr>
          <a:xfrm>
            <a:off x="5063980" y="1818625"/>
            <a:ext cx="14496176" cy="0"/>
          </a:xfrm>
          <a:prstGeom prst="line">
            <a:avLst/>
          </a:prstGeom>
          <a:ln w="38100" cap="flat">
            <a:solidFill>
              <a:srgbClr val="12F6FC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959622" y="2542525"/>
            <a:ext cx="15569876" cy="748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4729" lvl="1" indent="-322365" algn="l">
              <a:lnSpc>
                <a:spcPts val="5016"/>
              </a:lnSpc>
              <a:buFont typeface="Arial"/>
              <a:buChar char="•"/>
            </a:pPr>
            <a:r>
              <a:rPr lang="en-US" sz="2986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IPv4 only</a:t>
            </a:r>
          </a:p>
          <a:p>
            <a:pPr marL="644729" lvl="1" indent="-322365" algn="l">
              <a:lnSpc>
                <a:spcPts val="5016"/>
              </a:lnSpc>
              <a:buFont typeface="Arial"/>
              <a:buChar char="•"/>
            </a:pPr>
            <a:r>
              <a:rPr lang="en-US" sz="2986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Fixed common TCP port list; non-standard services may be missed</a:t>
            </a:r>
          </a:p>
          <a:p>
            <a:pPr marL="644729" lvl="1" indent="-322365" algn="l">
              <a:lnSpc>
                <a:spcPts val="5016"/>
              </a:lnSpc>
              <a:buFont typeface="Arial"/>
              <a:buChar char="•"/>
            </a:pPr>
            <a:r>
              <a:rPr lang="en-US" sz="2986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Service names are primarily inferred from conventional port numbers</a:t>
            </a:r>
          </a:p>
          <a:p>
            <a:pPr marL="644729" lvl="1" indent="-322365" algn="l">
              <a:lnSpc>
                <a:spcPts val="5016"/>
              </a:lnSpc>
              <a:buFont typeface="Arial"/>
              <a:buChar char="•"/>
            </a:pPr>
            <a:r>
              <a:rPr lang="en-US" sz="2986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Banner collection is best-effort and passive</a:t>
            </a:r>
          </a:p>
          <a:p>
            <a:pPr marL="644729" lvl="1" indent="-322365" algn="l">
              <a:lnSpc>
                <a:spcPts val="5016"/>
              </a:lnSpc>
              <a:buFont typeface="Arial"/>
              <a:buChar char="•"/>
            </a:pPr>
            <a:r>
              <a:rPr lang="en-US" sz="2986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TLS inspection limited to predefined TLS-designated ports</a:t>
            </a:r>
          </a:p>
          <a:p>
            <a:pPr marL="644729" lvl="1" indent="-322365" algn="l">
              <a:lnSpc>
                <a:spcPts val="5016"/>
              </a:lnSpc>
              <a:buFont typeface="Arial"/>
              <a:buChar char="•"/>
            </a:pPr>
            <a:r>
              <a:rPr lang="en-US" sz="2986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No STARTTLS negotiation for SMTP, IMAP, or POP3</a:t>
            </a:r>
          </a:p>
          <a:p>
            <a:pPr marL="644729" lvl="1" indent="-322365" algn="l">
              <a:lnSpc>
                <a:spcPts val="5016"/>
              </a:lnSpc>
              <a:buFont typeface="Arial"/>
              <a:buChar char="•"/>
            </a:pPr>
            <a:r>
              <a:rPr lang="en-US" sz="2986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Reports the negotiated TLS configuration, not every supported version/cipher</a:t>
            </a:r>
          </a:p>
          <a:p>
            <a:pPr marL="644729" lvl="1" indent="-322365" algn="l">
              <a:lnSpc>
                <a:spcPts val="5016"/>
              </a:lnSpc>
              <a:buFont typeface="Arial"/>
              <a:buChar char="•"/>
            </a:pPr>
            <a:r>
              <a:rPr lang="en-US" sz="2986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Certificate trust/hostname validation is intentionally not assessed</a:t>
            </a:r>
          </a:p>
          <a:p>
            <a:pPr marL="644729" lvl="1" indent="-322365" algn="l">
              <a:lnSpc>
                <a:spcPts val="5016"/>
              </a:lnSpc>
              <a:buFont typeface="Arial"/>
              <a:buChar char="•"/>
            </a:pPr>
            <a:r>
              <a:rPr lang="en-US" sz="2986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Self-signed status uses subject/issuer equality as a heuristic</a:t>
            </a:r>
          </a:p>
          <a:p>
            <a:pPr marL="644729" lvl="1" indent="-322365" algn="l">
              <a:lnSpc>
                <a:spcPts val="5016"/>
              </a:lnSpc>
              <a:buFont typeface="Arial"/>
              <a:buChar char="•"/>
            </a:pPr>
            <a:r>
              <a:rPr lang="en-US" sz="2986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PQC recognition is based on a defined set of known algorithm names</a:t>
            </a:r>
          </a:p>
          <a:p>
            <a:pPr algn="l">
              <a:lnSpc>
                <a:spcPts val="5016"/>
              </a:lnSpc>
            </a:pPr>
            <a:endParaRPr lang="en-US" sz="2986">
              <a:solidFill>
                <a:srgbClr val="FFFFFF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028700" y="2507851"/>
            <a:ext cx="16230600" cy="7175926"/>
            <a:chOff x="0" y="0"/>
            <a:chExt cx="4243634" cy="187620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43634" cy="1876209"/>
            </a:xfrm>
            <a:custGeom>
              <a:avLst/>
              <a:gdLst/>
              <a:ahLst/>
              <a:cxnLst/>
              <a:rect l="l" t="t" r="r" b="b"/>
              <a:pathLst>
                <a:path w="4243634" h="1876209">
                  <a:moveTo>
                    <a:pt x="0" y="0"/>
                  </a:moveTo>
                  <a:lnTo>
                    <a:pt x="4243634" y="0"/>
                  </a:lnTo>
                  <a:lnTo>
                    <a:pt x="4243634" y="1876209"/>
                  </a:lnTo>
                  <a:lnTo>
                    <a:pt x="0" y="1876209"/>
                  </a:lnTo>
                  <a:close/>
                </a:path>
              </a:pathLst>
            </a:custGeom>
            <a:ln w="38100" cap="sq">
              <a:solidFill>
                <a:srgbClr val="12F6FC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243634" cy="1923834"/>
            </a:xfrm>
            <a:prstGeom prst="rect">
              <a:avLst/>
            </a:prstGeom>
          </p:spPr>
          <p:txBody>
            <a:bodyPr lIns="60734" tIns="60734" rIns="60734" bIns="60734" rtlCol="0" anchor="ctr"/>
            <a:lstStyle/>
            <a:p>
              <a:pPr algn="ctr">
                <a:lnSpc>
                  <a:spcPts val="329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2507851"/>
            <a:ext cx="930922" cy="7175926"/>
            <a:chOff x="0" y="0"/>
            <a:chExt cx="243398" cy="187620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398" cy="1876209"/>
            </a:xfrm>
            <a:custGeom>
              <a:avLst/>
              <a:gdLst/>
              <a:ahLst/>
              <a:cxnLst/>
              <a:rect l="l" t="t" r="r" b="b"/>
              <a:pathLst>
                <a:path w="243398" h="1876209">
                  <a:moveTo>
                    <a:pt x="0" y="0"/>
                  </a:moveTo>
                  <a:lnTo>
                    <a:pt x="243398" y="0"/>
                  </a:lnTo>
                  <a:lnTo>
                    <a:pt x="243398" y="1876209"/>
                  </a:lnTo>
                  <a:lnTo>
                    <a:pt x="0" y="1876209"/>
                  </a:lnTo>
                  <a:close/>
                </a:path>
              </a:pathLst>
            </a:custGeom>
            <a:ln w="38100" cap="sq">
              <a:solidFill>
                <a:srgbClr val="12F6FC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43398" cy="1923834"/>
            </a:xfrm>
            <a:prstGeom prst="rect">
              <a:avLst/>
            </a:prstGeom>
          </p:spPr>
          <p:txBody>
            <a:bodyPr lIns="60734" tIns="60734" rIns="60734" bIns="60734" rtlCol="0" anchor="ctr"/>
            <a:lstStyle/>
            <a:p>
              <a:pPr algn="ctr">
                <a:lnSpc>
                  <a:spcPts val="329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8499524"/>
            <a:ext cx="930922" cy="484870"/>
            <a:chOff x="0" y="0"/>
            <a:chExt cx="243398" cy="12677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398" cy="126773"/>
            </a:xfrm>
            <a:custGeom>
              <a:avLst/>
              <a:gdLst/>
              <a:ahLst/>
              <a:cxnLst/>
              <a:rect l="l" t="t" r="r" b="b"/>
              <a:pathLst>
                <a:path w="243398" h="126773">
                  <a:moveTo>
                    <a:pt x="0" y="0"/>
                  </a:moveTo>
                  <a:lnTo>
                    <a:pt x="243398" y="0"/>
                  </a:lnTo>
                  <a:lnTo>
                    <a:pt x="243398" y="126773"/>
                  </a:lnTo>
                  <a:lnTo>
                    <a:pt x="0" y="126773"/>
                  </a:lnTo>
                  <a:close/>
                </a:path>
              </a:pathLst>
            </a:custGeom>
            <a:solidFill>
              <a:srgbClr val="12F6FC"/>
            </a:solidFill>
            <a:ln w="38100" cap="sq">
              <a:solidFill>
                <a:srgbClr val="12F6FC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43398" cy="174398"/>
            </a:xfrm>
            <a:prstGeom prst="rect">
              <a:avLst/>
            </a:prstGeom>
          </p:spPr>
          <p:txBody>
            <a:bodyPr lIns="60734" tIns="60734" rIns="60734" bIns="60734" rtlCol="0" anchor="ctr"/>
            <a:lstStyle/>
            <a:p>
              <a:pPr algn="ctr">
                <a:lnSpc>
                  <a:spcPts val="3294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62996"/>
            <a:ext cx="5883634" cy="1619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00"/>
              </a:lnSpc>
            </a:pPr>
            <a:r>
              <a:rPr lang="en-US" sz="4961">
                <a:solidFill>
                  <a:srgbClr val="12F6FC"/>
                </a:solidFill>
                <a:latin typeface="Anonymous Pro"/>
                <a:ea typeface="Anonymous Pro"/>
                <a:cs typeface="Anonymous Pro"/>
                <a:sym typeface="Anonymous Pro"/>
              </a:rPr>
              <a:t>Future Improvements</a:t>
            </a:r>
          </a:p>
        </p:txBody>
      </p:sp>
      <p:sp>
        <p:nvSpPr>
          <p:cNvPr id="3" name="AutoShape 3"/>
          <p:cNvSpPr/>
          <p:nvPr/>
        </p:nvSpPr>
        <p:spPr>
          <a:xfrm>
            <a:off x="5541541" y="1973751"/>
            <a:ext cx="12746459" cy="0"/>
          </a:xfrm>
          <a:prstGeom prst="line">
            <a:avLst/>
          </a:prstGeom>
          <a:ln w="38100" cap="flat">
            <a:solidFill>
              <a:srgbClr val="12F6FC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378295" y="2899737"/>
            <a:ext cx="16471124" cy="6131226"/>
            <a:chOff x="0" y="0"/>
            <a:chExt cx="21961498" cy="8174968"/>
          </a:xfrm>
        </p:grpSpPr>
        <p:sp>
          <p:nvSpPr>
            <p:cNvPr id="5" name="TextBox 5"/>
            <p:cNvSpPr txBox="1"/>
            <p:nvPr/>
          </p:nvSpPr>
          <p:spPr>
            <a:xfrm>
              <a:off x="310713" y="4115598"/>
              <a:ext cx="12605051" cy="36517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0915" lvl="1" indent="-340457" algn="l">
                <a:lnSpc>
                  <a:spcPts val="4415"/>
                </a:lnSpc>
                <a:buFont typeface="Arial"/>
                <a:buChar char="•"/>
              </a:pPr>
              <a:r>
                <a:rPr lang="en-US" sz="3153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STARTTLS-aware inspection</a:t>
              </a:r>
            </a:p>
            <a:p>
              <a:pPr marL="680915" lvl="1" indent="-340457" algn="l">
                <a:lnSpc>
                  <a:spcPts val="4415"/>
                </a:lnSpc>
                <a:buFont typeface="Arial"/>
                <a:buChar char="•"/>
              </a:pPr>
              <a:r>
                <a:rPr lang="en-US" sz="3153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Configurable port profiles</a:t>
              </a:r>
            </a:p>
            <a:p>
              <a:pPr marL="680915" lvl="1" indent="-340457" algn="l">
                <a:lnSpc>
                  <a:spcPts val="4415"/>
                </a:lnSpc>
                <a:buFont typeface="Arial"/>
                <a:buChar char="•"/>
              </a:pPr>
              <a:r>
                <a:rPr lang="en-US" sz="3153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Cryptographic verification of self-signed certificates</a:t>
              </a:r>
            </a:p>
            <a:p>
              <a:pPr algn="l">
                <a:lnSpc>
                  <a:spcPts val="4415"/>
                </a:lnSpc>
              </a:pPr>
              <a:endParaRPr lang="en-US" sz="3153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endParaRPr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9027309" y="0"/>
              <a:ext cx="11969383" cy="4676795"/>
              <a:chOff x="0" y="0"/>
              <a:chExt cx="1768862" cy="69114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768862" cy="691147"/>
              </a:xfrm>
              <a:custGeom>
                <a:avLst/>
                <a:gdLst/>
                <a:ahLst/>
                <a:cxnLst/>
                <a:rect l="l" t="t" r="r" b="b"/>
                <a:pathLst>
                  <a:path w="1768862" h="691147">
                    <a:moveTo>
                      <a:pt x="0" y="0"/>
                    </a:moveTo>
                    <a:lnTo>
                      <a:pt x="1768862" y="0"/>
                    </a:lnTo>
                    <a:lnTo>
                      <a:pt x="1768862" y="691147"/>
                    </a:lnTo>
                    <a:lnTo>
                      <a:pt x="0" y="691147"/>
                    </a:lnTo>
                    <a:close/>
                  </a:path>
                </a:pathLst>
              </a:custGeom>
              <a:ln w="38100" cap="sq">
                <a:solidFill>
                  <a:srgbClr val="12F6FC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1768862" cy="738772"/>
              </a:xfrm>
              <a:prstGeom prst="rect">
                <a:avLst/>
              </a:prstGeom>
            </p:spPr>
            <p:txBody>
              <a:bodyPr lIns="77824" tIns="77824" rIns="77824" bIns="77824" rtlCol="0" anchor="ctr"/>
              <a:lstStyle/>
              <a:p>
                <a:pPr algn="ctr">
                  <a:lnSpc>
                    <a:spcPts val="3294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9359402" y="606456"/>
              <a:ext cx="12602096" cy="2178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0162" lvl="1" indent="-340081" algn="l">
                <a:lnSpc>
                  <a:spcPts val="4410"/>
                </a:lnSpc>
                <a:buFont typeface="Arial"/>
                <a:buChar char="•"/>
              </a:pPr>
              <a:r>
                <a:rPr lang="en-US" sz="3150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IPv6 support</a:t>
              </a:r>
            </a:p>
            <a:p>
              <a:pPr marL="680162" lvl="1" indent="-340081" algn="l">
                <a:lnSpc>
                  <a:spcPts val="4410"/>
                </a:lnSpc>
                <a:buFont typeface="Arial"/>
                <a:buChar char="•"/>
              </a:pPr>
              <a:r>
                <a:rPr lang="en-US" sz="3150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Broader TLS capability enumeration</a:t>
              </a:r>
            </a:p>
            <a:p>
              <a:pPr marL="680162" lvl="1" indent="-340081" algn="l">
                <a:lnSpc>
                  <a:spcPts val="4410"/>
                </a:lnSpc>
                <a:buFont typeface="Arial"/>
                <a:buChar char="•"/>
              </a:pPr>
              <a:r>
                <a:rPr lang="en-US" sz="3150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Expanded PQC algorithm recognition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0" y="3498172"/>
              <a:ext cx="11969383" cy="4676795"/>
              <a:chOff x="0" y="0"/>
              <a:chExt cx="1768862" cy="69114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768862" cy="691147"/>
              </a:xfrm>
              <a:custGeom>
                <a:avLst/>
                <a:gdLst/>
                <a:ahLst/>
                <a:cxnLst/>
                <a:rect l="l" t="t" r="r" b="b"/>
                <a:pathLst>
                  <a:path w="1768862" h="691147">
                    <a:moveTo>
                      <a:pt x="0" y="0"/>
                    </a:moveTo>
                    <a:lnTo>
                      <a:pt x="1768862" y="0"/>
                    </a:lnTo>
                    <a:lnTo>
                      <a:pt x="1768862" y="691147"/>
                    </a:lnTo>
                    <a:lnTo>
                      <a:pt x="0" y="691147"/>
                    </a:lnTo>
                    <a:close/>
                  </a:path>
                </a:pathLst>
              </a:custGeom>
              <a:ln w="38100" cap="sq">
                <a:solidFill>
                  <a:srgbClr val="12F6FC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1768862" cy="738772"/>
              </a:xfrm>
              <a:prstGeom prst="rect">
                <a:avLst/>
              </a:prstGeom>
            </p:spPr>
            <p:txBody>
              <a:bodyPr lIns="77824" tIns="77824" rIns="77824" bIns="77824" rtlCol="0" anchor="ctr"/>
              <a:lstStyle/>
              <a:p>
                <a:pPr algn="ctr">
                  <a:lnSpc>
                    <a:spcPts val="3294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272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127484" y="6073470"/>
            <a:ext cx="7742683" cy="0"/>
          </a:xfrm>
          <a:prstGeom prst="line">
            <a:avLst/>
          </a:prstGeom>
          <a:ln w="38100" cap="flat">
            <a:solidFill>
              <a:srgbClr val="12F6FC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8214848" y="10271760"/>
            <a:ext cx="73152" cy="15240"/>
          </a:xfrm>
          <a:custGeom>
            <a:avLst/>
            <a:gdLst/>
            <a:ahLst/>
            <a:cxnLst/>
            <a:rect l="l" t="t" r="r" b="b"/>
            <a:pathLst>
              <a:path w="73152" h="15240">
                <a:moveTo>
                  <a:pt x="0" y="0"/>
                </a:moveTo>
                <a:lnTo>
                  <a:pt x="73152" y="0"/>
                </a:lnTo>
                <a:lnTo>
                  <a:pt x="73152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27484" y="971550"/>
            <a:ext cx="5883634" cy="916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03"/>
              </a:lnSpc>
            </a:pPr>
            <a:r>
              <a:rPr lang="en-US" sz="5661">
                <a:solidFill>
                  <a:srgbClr val="12F6FC"/>
                </a:solidFill>
                <a:latin typeface="Anonymous Pro"/>
                <a:ea typeface="Anonymous Pro"/>
                <a:cs typeface="Anonymous Pro"/>
                <a:sym typeface="Anonymous Pro"/>
              </a:rPr>
              <a:t>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7484" y="2339713"/>
            <a:ext cx="7742683" cy="6197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3"/>
              </a:lnSpc>
            </a:pPr>
            <a:r>
              <a:rPr lang="en-US" sz="2359" b="1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Final Outcome</a:t>
            </a:r>
          </a:p>
          <a:p>
            <a:pPr marL="509469" lvl="1" indent="-254735" algn="l">
              <a:lnSpc>
                <a:spcPts val="3303"/>
              </a:lnSpc>
              <a:buFont typeface="Arial"/>
              <a:buChar char="•"/>
            </a:pPr>
            <a:r>
              <a:rPr lang="en-US" sz="2359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Safe, bounded defensive scanning</a:t>
            </a:r>
          </a:p>
          <a:p>
            <a:pPr marL="509469" lvl="1" indent="-254735" algn="l">
              <a:lnSpc>
                <a:spcPts val="3303"/>
              </a:lnSpc>
              <a:buFont typeface="Arial"/>
              <a:buChar char="•"/>
            </a:pPr>
            <a:r>
              <a:rPr lang="en-US" sz="2359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TLS cryptographic inventory.</a:t>
            </a:r>
          </a:p>
          <a:p>
            <a:pPr marL="509469" lvl="1" indent="-254735" algn="l">
              <a:lnSpc>
                <a:spcPts val="3303"/>
              </a:lnSpc>
              <a:buFont typeface="Arial"/>
              <a:buChar char="•"/>
            </a:pPr>
            <a:r>
              <a:rPr lang="en-US" sz="2359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Explainable per-algorithm quantum classification.</a:t>
            </a:r>
          </a:p>
          <a:p>
            <a:pPr marL="509469" lvl="1" indent="-254735" algn="l">
              <a:lnSpc>
                <a:spcPts val="3303"/>
              </a:lnSpc>
              <a:buFont typeface="Arial"/>
              <a:buChar char="•"/>
            </a:pPr>
            <a:r>
              <a:rPr lang="en-US" sz="2359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Structured JSON reporting.</a:t>
            </a:r>
          </a:p>
          <a:p>
            <a:pPr marL="509469" lvl="1" indent="-254735" algn="l">
              <a:lnSpc>
                <a:spcPts val="3303"/>
              </a:lnSpc>
              <a:buFont typeface="Arial"/>
              <a:buChar char="•"/>
            </a:pPr>
            <a:r>
              <a:rPr lang="en-US" sz="2359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Bounded and failure-tolerant operation.</a:t>
            </a:r>
          </a:p>
          <a:p>
            <a:pPr algn="l">
              <a:lnSpc>
                <a:spcPts val="3303"/>
              </a:lnSpc>
            </a:pPr>
            <a:endParaRPr lang="en-US" sz="2359">
              <a:solidFill>
                <a:srgbClr val="FFFFFF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algn="ctr">
              <a:lnSpc>
                <a:spcPts val="3863"/>
              </a:lnSpc>
            </a:pPr>
            <a:endParaRPr lang="en-US" sz="2359">
              <a:solidFill>
                <a:srgbClr val="FFFFFF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algn="ctr">
              <a:lnSpc>
                <a:spcPts val="3863"/>
              </a:lnSpc>
            </a:pPr>
            <a:r>
              <a:rPr lang="en-US" sz="2759" b="1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Q-SCOUT answers the first migration question:</a:t>
            </a:r>
          </a:p>
          <a:p>
            <a:pPr algn="ctr">
              <a:lnSpc>
                <a:spcPts val="3863"/>
              </a:lnSpc>
            </a:pPr>
            <a:r>
              <a:rPr lang="en-US" sz="2759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“What cryptography can we actually observe?”</a:t>
            </a:r>
          </a:p>
          <a:p>
            <a:pPr algn="l">
              <a:lnSpc>
                <a:spcPts val="3303"/>
              </a:lnSpc>
            </a:pPr>
            <a:endParaRPr lang="en-US" sz="2759">
              <a:solidFill>
                <a:srgbClr val="FFFFFF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772</Words>
  <Application>Microsoft Office PowerPoint</Application>
  <PresentationFormat>Custom</PresentationFormat>
  <Paragraphs>173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Saved By Zero</vt:lpstr>
      <vt:lpstr>Anonymous Pro Bold</vt:lpstr>
      <vt:lpstr>Arial</vt:lpstr>
      <vt:lpstr>Calibri</vt:lpstr>
      <vt:lpstr>Anonymous Pro Italics</vt:lpstr>
      <vt:lpstr>Glacial Indifference</vt:lpstr>
      <vt:lpstr>Anonymous Pro</vt:lpstr>
      <vt:lpstr>Anonymous Pro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Black Corporate Cyber Security Presentation</dc:title>
  <dc:creator>Mustafa Shabbir</dc:creator>
  <cp:lastModifiedBy>maria baranwala</cp:lastModifiedBy>
  <cp:revision>2</cp:revision>
  <dcterms:created xsi:type="dcterms:W3CDTF">2006-08-16T00:00:00Z</dcterms:created>
  <dcterms:modified xsi:type="dcterms:W3CDTF">2026-08-30T17:15:23Z</dcterms:modified>
  <dc:identifier>DAHTiHymzBc</dc:identifier>
</cp:coreProperties>
</file>